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1538"/>
            <a:ext cx="164592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58147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F6F3E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CS310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24471" y="533400"/>
            <a:ext cx="22999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6F3E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THIRD-YEAR PROJECT · VIVA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2789173" y="533400"/>
            <a:ext cx="472196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9C978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DEPT. OF COMPUTER SCIENCE · UNIVERSITY OF WARWICK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170658"/>
            <a:ext cx="15240000" cy="261937"/>
          </a:xfrm>
          <a:prstGeom prst="roundRect">
            <a:avLst>
              <a:gd name="adj" fmla="val 7273"/>
            </a:avLst>
          </a:prstGeom>
          <a:ln w="9525">
            <a:solidFill>
              <a:srgbClr val="4A47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2208758"/>
            <a:ext cx="154876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CBC6B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VIVA · 10-MINUTE PRESENTATION · LIVE DEMO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14400" y="2775496"/>
            <a:ext cx="15697200" cy="3814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300" spc="-126" kern="0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Implementing &amp; empirically evaluating the </a:t>
            </a:r>
            <a:pPr algn="l" indent="0" marL="0">
              <a:lnSpc>
                <a:spcPct val="118000"/>
              </a:lnSpc>
              <a:buNone/>
            </a:pPr>
            <a:r>
              <a:rPr lang="en-US" sz="6300" i="1" spc="-126" kern="0" dirty="0">
                <a:solidFill>
                  <a:srgbClr val="A6A09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Mixture-of-Superpositions </a:t>
            </a:r>
            <a:pPr algn="l" indent="0" marL="0">
              <a:lnSpc>
                <a:spcPct val="118000"/>
              </a:lnSpc>
              <a:buNone/>
            </a:pPr>
            <a:r>
              <a:rPr lang="en-US" sz="6300" spc="-126" kern="0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-based protocol </a:t>
            </a:r>
            <a:pPr algn="l" indent="0" marL="0">
              <a:lnSpc>
                <a:spcPct val="118000"/>
              </a:lnSpc>
              <a:buNone/>
            </a:pPr>
            <a:r>
              <a:rPr lang="en-US" sz="6300" spc="-126" kern="0" dirty="0">
                <a:solidFill>
                  <a:srgbClr val="A6A09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for classically verifiable quantum learning.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914400" y="6932861"/>
            <a:ext cx="11937690" cy="1092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CBC6B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first concrete, end-to-end instantiation of the protocol of </a:t>
            </a:r>
            <a:pPr algn="l" indent="0" marL="0">
              <a:lnSpc>
                <a:spcPct val="142000"/>
              </a:lnSpc>
              <a:buNone/>
            </a:pPr>
            <a:r>
              <a:rPr lang="en-US" sz="1950" i="1" dirty="0">
                <a:solidFill>
                  <a:srgbClr val="CBC6B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Caro, Hinsche, Ioannou, Nietner &amp; Sweke (2024)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CBC6B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, whose Theorem 12 establishes existence only asymptotically. Also the first empirical map of where it actually breaks.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0"/>
            <a:ext cx="164592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286875"/>
            <a:ext cx="209334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C978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CANDIDATE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14400" y="9534525"/>
            <a:ext cx="20933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8" kern="0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Alex Do · </a:t>
            </a:r>
            <a:pPr algn="l" indent="0" marL="0">
              <a:buNone/>
            </a:pPr>
            <a:r>
              <a:rPr lang="en-US" sz="1500" spc="48" kern="0" dirty="0">
                <a:solidFill>
                  <a:srgbClr val="F6F3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5505454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1142" y="9286875"/>
            <a:ext cx="20201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C978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SUPERVISOR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3541142" y="9534525"/>
            <a:ext cx="20201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8" kern="0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Dr. Matthias Caro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4661" y="9286875"/>
            <a:ext cx="27870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9C978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SECOND ASSESSOR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6094661" y="9534525"/>
            <a:ext cx="27870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8" kern="0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Dr. Christian Ikenmeyer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710645" y="9629775"/>
            <a:ext cx="7391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9C978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1538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63601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02 / 09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9017" y="533400"/>
            <a:ext cx="1846659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CONTENTS &amp; FRAMING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185863"/>
            <a:ext cx="14716125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spc="-58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Contents for today's Viva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331095"/>
            <a:ext cx="867534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07245"/>
            <a:ext cx="15034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WALKTHROUGH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60196" y="2026295"/>
            <a:ext cx="242954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7 slides · 10 min · + 5-min demo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2826395"/>
            <a:ext cx="7620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2588270"/>
            <a:ext cx="6858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#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676400" y="2826395"/>
            <a:ext cx="623694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2" name="Text 10"/>
          <p:cNvSpPr/>
          <p:nvPr/>
        </p:nvSpPr>
        <p:spPr>
          <a:xfrm>
            <a:off x="1752600" y="2588270"/>
            <a:ext cx="627164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SECTION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7913340" y="2826395"/>
            <a:ext cx="16764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4" name="Text 12"/>
          <p:cNvSpPr/>
          <p:nvPr/>
        </p:nvSpPr>
        <p:spPr>
          <a:xfrm>
            <a:off x="7989540" y="2588270"/>
            <a:ext cx="1600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WINDOW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914400" y="3197870"/>
            <a:ext cx="7620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2893070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676400" y="3197870"/>
            <a:ext cx="623694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8" name="Text 16"/>
          <p:cNvSpPr/>
          <p:nvPr/>
        </p:nvSpPr>
        <p:spPr>
          <a:xfrm>
            <a:off x="1752600" y="2893070"/>
            <a:ext cx="6271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Intro &amp; framing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13340" y="3197870"/>
            <a:ext cx="16764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0" name="Text 18"/>
          <p:cNvSpPr/>
          <p:nvPr/>
        </p:nvSpPr>
        <p:spPr>
          <a:xfrm>
            <a:off x="7989540" y="2893070"/>
            <a:ext cx="1600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0:00 – 1:00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3569345"/>
            <a:ext cx="7620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3264545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676400" y="3569345"/>
            <a:ext cx="623694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4" name="Text 22"/>
          <p:cNvSpPr/>
          <p:nvPr/>
        </p:nvSpPr>
        <p:spPr>
          <a:xfrm>
            <a:off x="1752600" y="3264545"/>
            <a:ext cx="6271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was built: </a:t>
            </a:r>
            <a:pPr algn="l" indent="0" marL="0">
              <a:buNone/>
            </a:pPr>
            <a:r>
              <a:rPr lang="en-US" sz="1500" i="1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implementation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13340" y="3569345"/>
            <a:ext cx="16764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6" name="Text 24"/>
          <p:cNvSpPr/>
          <p:nvPr/>
        </p:nvSpPr>
        <p:spPr>
          <a:xfrm>
            <a:off x="7989540" y="3264545"/>
            <a:ext cx="1600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0:30 – 3:00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3940820"/>
            <a:ext cx="7620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" y="3636020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676400" y="3940820"/>
            <a:ext cx="623694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0" name="Text 28"/>
          <p:cNvSpPr/>
          <p:nvPr/>
        </p:nvSpPr>
        <p:spPr>
          <a:xfrm>
            <a:off x="1752600" y="3636020"/>
            <a:ext cx="6271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Completeness &amp; soundness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913340" y="3940820"/>
            <a:ext cx="16764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2" name="Text 30"/>
          <p:cNvSpPr/>
          <p:nvPr/>
        </p:nvSpPr>
        <p:spPr>
          <a:xfrm>
            <a:off x="7989540" y="3636020"/>
            <a:ext cx="1600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3:00 – 4:00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4400" y="4312295"/>
            <a:ext cx="7620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4" name="Text 32"/>
          <p:cNvSpPr/>
          <p:nvPr/>
        </p:nvSpPr>
        <p:spPr>
          <a:xfrm>
            <a:off x="990600" y="4007495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676400" y="4312295"/>
            <a:ext cx="623694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6" name="Text 34"/>
          <p:cNvSpPr/>
          <p:nvPr/>
        </p:nvSpPr>
        <p:spPr>
          <a:xfrm>
            <a:off x="1752600" y="4007495"/>
            <a:ext cx="6271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vanishing-margin finding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913340" y="4312295"/>
            <a:ext cx="16764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8" name="Text 36"/>
          <p:cNvSpPr/>
          <p:nvPr/>
        </p:nvSpPr>
        <p:spPr>
          <a:xfrm>
            <a:off x="7989540" y="4007495"/>
            <a:ext cx="1600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4:00 – 5:00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14400" y="4683770"/>
            <a:ext cx="7620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0" name="Text 38"/>
          <p:cNvSpPr/>
          <p:nvPr/>
        </p:nvSpPr>
        <p:spPr>
          <a:xfrm>
            <a:off x="990600" y="4378970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676400" y="4683770"/>
            <a:ext cx="623694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2" name="Text 40"/>
          <p:cNvSpPr/>
          <p:nvPr/>
        </p:nvSpPr>
        <p:spPr>
          <a:xfrm>
            <a:off x="1752600" y="4378970"/>
            <a:ext cx="6271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Robustness &amp; the gate-noise cliff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913340" y="4683770"/>
            <a:ext cx="16764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4" name="Text 42"/>
          <p:cNvSpPr/>
          <p:nvPr/>
        </p:nvSpPr>
        <p:spPr>
          <a:xfrm>
            <a:off x="7989540" y="4378970"/>
            <a:ext cx="1600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5:00 – 6:30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14400" y="5055245"/>
            <a:ext cx="7620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6" name="Text 44"/>
          <p:cNvSpPr/>
          <p:nvPr/>
        </p:nvSpPr>
        <p:spPr>
          <a:xfrm>
            <a:off x="990600" y="4750445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676400" y="5055245"/>
            <a:ext cx="623694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8" name="Text 46"/>
          <p:cNvSpPr/>
          <p:nvPr/>
        </p:nvSpPr>
        <p:spPr>
          <a:xfrm>
            <a:off x="1752600" y="4750445"/>
            <a:ext cx="6271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Sensitivity: bent functions, ϑ-boundary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7913340" y="5055245"/>
            <a:ext cx="16764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50" name="Text 48"/>
          <p:cNvSpPr/>
          <p:nvPr/>
        </p:nvSpPr>
        <p:spPr>
          <a:xfrm>
            <a:off x="7989540" y="4750445"/>
            <a:ext cx="1600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6:30 – 7:30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914400" y="5426720"/>
            <a:ext cx="7620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52" name="Text 50"/>
          <p:cNvSpPr/>
          <p:nvPr/>
        </p:nvSpPr>
        <p:spPr>
          <a:xfrm>
            <a:off x="990600" y="5121920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676400" y="5426720"/>
            <a:ext cx="623694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54" name="Text 52"/>
          <p:cNvSpPr/>
          <p:nvPr/>
        </p:nvSpPr>
        <p:spPr>
          <a:xfrm>
            <a:off x="1752600" y="5121920"/>
            <a:ext cx="6271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Limitations &amp; contributions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7913340" y="5426720"/>
            <a:ext cx="16764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56" name="Text 54"/>
          <p:cNvSpPr/>
          <p:nvPr/>
        </p:nvSpPr>
        <p:spPr>
          <a:xfrm>
            <a:off x="7989540" y="5121920"/>
            <a:ext cx="1600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7:30 – 8:30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14400" y="5798195"/>
            <a:ext cx="7620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58" name="Text 56"/>
          <p:cNvSpPr/>
          <p:nvPr/>
        </p:nvSpPr>
        <p:spPr>
          <a:xfrm>
            <a:off x="990600" y="5493395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676400" y="5798195"/>
            <a:ext cx="623694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60" name="Text 58"/>
          <p:cNvSpPr/>
          <p:nvPr/>
        </p:nvSpPr>
        <p:spPr>
          <a:xfrm>
            <a:off x="1752600" y="5493395"/>
            <a:ext cx="6271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7913340" y="5798195"/>
            <a:ext cx="16764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62" name="Text 60"/>
          <p:cNvSpPr/>
          <p:nvPr/>
        </p:nvSpPr>
        <p:spPr>
          <a:xfrm>
            <a:off x="7989540" y="5493395"/>
            <a:ext cx="1600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8:30 – 9:30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914400" y="6169670"/>
            <a:ext cx="7620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64" name="Text 62"/>
          <p:cNvSpPr/>
          <p:nvPr/>
        </p:nvSpPr>
        <p:spPr>
          <a:xfrm>
            <a:off x="990600" y="5864870"/>
            <a:ext cx="685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1676400" y="6169670"/>
            <a:ext cx="623694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66" name="Text 64"/>
          <p:cNvSpPr/>
          <p:nvPr/>
        </p:nvSpPr>
        <p:spPr>
          <a:xfrm>
            <a:off x="1752600" y="5864870"/>
            <a:ext cx="6271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 · sampling &amp; verifier walkthrough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7913340" y="6169670"/>
            <a:ext cx="167640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68" name="Text 66"/>
          <p:cNvSpPr/>
          <p:nvPr/>
        </p:nvSpPr>
        <p:spPr>
          <a:xfrm>
            <a:off x="7989540" y="5864870"/>
            <a:ext cx="1600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9:30 – 15:00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10275540" y="2331095"/>
            <a:ext cx="709806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70" name="Text 68"/>
          <p:cNvSpPr/>
          <p:nvPr/>
        </p:nvSpPr>
        <p:spPr>
          <a:xfrm>
            <a:off x="10275540" y="2007245"/>
            <a:ext cx="17187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WHERE THIS SITS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15452303" y="2026295"/>
            <a:ext cx="192129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existence → instantiation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10275540" y="2531120"/>
            <a:ext cx="731100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Caro et al. (2024) prove that an honest BQP prover and a BPP verifier exist for the Fourier-sparse learning problem; an asymptotic statement. They provide a protocol for doing so, but not the implementation.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0275540" y="4191446"/>
            <a:ext cx="7098060" cy="1478161"/>
          </a:xfrm>
          <a:prstGeom prst="rect">
            <a:avLst/>
          </a:prstGeom>
          <a:solidFill>
            <a:srgbClr val="F3EBE6"/>
          </a:solidFill>
          <a:ln/>
        </p:spPr>
      </p:sp>
      <p:sp>
        <p:nvSpPr>
          <p:cNvPr id="74" name="Shape 72"/>
          <p:cNvSpPr/>
          <p:nvPr/>
        </p:nvSpPr>
        <p:spPr>
          <a:xfrm>
            <a:off x="10275540" y="4191446"/>
            <a:ext cx="28575" cy="1478161"/>
          </a:xfrm>
          <a:prstGeom prst="rect">
            <a:avLst/>
          </a:prstGeom>
          <a:solidFill>
            <a:srgbClr val="8A2A18"/>
          </a:solidFill>
          <a:ln/>
        </p:spPr>
      </p:sp>
      <p:sp>
        <p:nvSpPr>
          <p:cNvPr id="75" name="Text 73"/>
          <p:cNvSpPr/>
          <p:nvPr/>
        </p:nvSpPr>
        <p:spPr>
          <a:xfrm>
            <a:off x="10494615" y="4343846"/>
            <a:ext cx="6901427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This project supplies the missing artefact.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Two Python packages,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mos/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(state-level emulator) and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ql/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(Thm. 12 interactive pair), with two equivalent backends, ~30k trials across seven experiments, and protobuf-aggregated results.</a:t>
            </a:r>
            <a:endParaRPr lang="en-US" sz="1650" dirty="0"/>
          </a:p>
        </p:txBody>
      </p:sp>
      <p:sp>
        <p:nvSpPr>
          <p:cNvPr id="76" name="Shape 74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77" name="Text 75"/>
          <p:cNvSpPr/>
          <p:nvPr/>
        </p:nvSpPr>
        <p:spPr>
          <a:xfrm>
            <a:off x="914400" y="9629775"/>
            <a:ext cx="52778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Implementing &amp; Empirically Evaluating the MoS Protocol · Caro et al. (2024)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3093601" y="9629775"/>
            <a:ext cx="44083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Headline: this is the implementation Caro et al. did not provide.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1538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63601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03 / 09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9017" y="533400"/>
            <a:ext cx="141729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WHAT WAS BUILT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66863"/>
            <a:ext cx="9245575" cy="5118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69575" y="1662113"/>
            <a:ext cx="68021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ENGINEERING SCALE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69575" y="2081212"/>
            <a:ext cx="127828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spc="-61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~30k</a:t>
            </a:r>
            <a:endParaRPr lang="en-US" sz="4050" dirty="0"/>
          </a:p>
        </p:txBody>
      </p:sp>
      <p:sp>
        <p:nvSpPr>
          <p:cNvPr id="8" name="Text 5"/>
          <p:cNvSpPr/>
          <p:nvPr/>
        </p:nvSpPr>
        <p:spPr>
          <a:xfrm>
            <a:off x="10769575" y="2614613"/>
            <a:ext cx="12782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TRIALS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2238360" y="2081212"/>
            <a:ext cx="103078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spc="-61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7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12238360" y="2614613"/>
            <a:ext cx="103078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EXPERIMENTS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13459644" y="2081212"/>
            <a:ext cx="121034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spc="-61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4</a:t>
            </a:r>
            <a:endParaRPr lang="en-US" sz="4050" dirty="0"/>
          </a:p>
        </p:txBody>
      </p:sp>
      <p:sp>
        <p:nvSpPr>
          <p:cNvPr id="12" name="Text 9"/>
          <p:cNvSpPr/>
          <p:nvPr/>
        </p:nvSpPr>
        <p:spPr>
          <a:xfrm>
            <a:off x="13459644" y="2614613"/>
            <a:ext cx="12103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EMPIRICAL AXES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10769575" y="2971800"/>
            <a:ext cx="258365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spc="-61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DCS · tiger</a:t>
            </a:r>
            <a:endParaRPr lang="en-US" sz="4050" dirty="0"/>
          </a:p>
        </p:txBody>
      </p:sp>
      <p:sp>
        <p:nvSpPr>
          <p:cNvPr id="14" name="Text 11"/>
          <p:cNvSpPr/>
          <p:nvPr/>
        </p:nvSpPr>
        <p:spPr>
          <a:xfrm>
            <a:off x="10769575" y="3505200"/>
            <a:ext cx="258365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BATCH COMPUTE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10769575" y="3995738"/>
            <a:ext cx="6604025" cy="1220688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6" name="Shape 13"/>
          <p:cNvSpPr/>
          <p:nvPr/>
        </p:nvSpPr>
        <p:spPr>
          <a:xfrm>
            <a:off x="10769575" y="3995738"/>
            <a:ext cx="28575" cy="1220688"/>
          </a:xfrm>
          <a:prstGeom prst="rect">
            <a:avLst/>
          </a:prstGeom>
          <a:solidFill>
            <a:srgbClr val="2D4A6E"/>
          </a:solidFill>
          <a:ln/>
        </p:spPr>
      </p:sp>
      <p:sp>
        <p:nvSpPr>
          <p:cNvPr id="17" name="Text 14"/>
          <p:cNvSpPr/>
          <p:nvPr/>
        </p:nvSpPr>
        <p:spPr>
          <a:xfrm>
            <a:off x="10988650" y="4148138"/>
            <a:ext cx="6392571" cy="953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Lemma 1.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E9EDF3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Statevector and circuit preparations of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|ψ</a:t>
            </a:r>
            <a:pPr algn="l" indent="0" marL="0">
              <a:lnSpc>
                <a:spcPct val="140000"/>
              </a:lnSpc>
              <a:buNone/>
            </a:pPr>
            <a:r>
              <a:rPr lang="en-US" sz="1375" i="1" baseline="-4000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⟩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E9EDF3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are identical under no gate noise; same |x,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E9EDF3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(x)⟩ on every basis state.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0769575" y="5445026"/>
            <a:ext cx="68021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769575" y="5864126"/>
            <a:ext cx="5191803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Protobuf-aggregated results across distributed trials.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9629775"/>
            <a:ext cx="42448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§4 Implementation · Thm. 12 (Caro et al.) · Lemma 1 (report)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5855479" y="9629775"/>
            <a:ext cx="15943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Engineering credibility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1538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63601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04 / 09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9017" y="533400"/>
            <a:ext cx="246422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COMPLETENESS &amp; SOUNDNESS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185863"/>
            <a:ext cx="14716125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spc="-58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Honest (V, P) accepts at 100%. Dishonest (V, P) rejects where expected.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3000077"/>
            <a:ext cx="79248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76227"/>
            <a:ext cx="35195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COMPLETENESS · SCALING BASELINE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40076" y="2695277"/>
            <a:ext cx="30991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 ∈ {4,…,16} · 100 trials each · 1300 total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495377"/>
            <a:ext cx="3356893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257252"/>
            <a:ext cx="3305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METRIC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4271293" y="3495377"/>
            <a:ext cx="2530897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2" name="Text 10"/>
          <p:cNvSpPr/>
          <p:nvPr/>
        </p:nvSpPr>
        <p:spPr>
          <a:xfrm>
            <a:off x="4271293" y="3257252"/>
            <a:ext cx="245469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OBSERVED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802189" y="3495377"/>
            <a:ext cx="2037011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4" name="Text 12"/>
          <p:cNvSpPr/>
          <p:nvPr/>
        </p:nvSpPr>
        <p:spPr>
          <a:xfrm>
            <a:off x="6802189" y="3257252"/>
            <a:ext cx="196081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PREDICTED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914400" y="3866852"/>
            <a:ext cx="335689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3562052"/>
            <a:ext cx="3305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ℙ[accept]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71293" y="3866852"/>
            <a:ext cx="2530897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8" name="Text 16"/>
          <p:cNvSpPr/>
          <p:nvPr/>
        </p:nvSpPr>
        <p:spPr>
          <a:xfrm>
            <a:off x="4271293" y="3562052"/>
            <a:ext cx="24546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02189" y="3866852"/>
            <a:ext cx="2037011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0" name="Text 18"/>
          <p:cNvSpPr/>
          <p:nvPr/>
        </p:nvSpPr>
        <p:spPr>
          <a:xfrm>
            <a:off x="6802189" y="3562052"/>
            <a:ext cx="19608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1−δ = 0.9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4238327"/>
            <a:ext cx="335689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3933527"/>
            <a:ext cx="3305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ℙ[correct | accept]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71293" y="4238327"/>
            <a:ext cx="2530897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4" name="Text 22"/>
          <p:cNvSpPr/>
          <p:nvPr/>
        </p:nvSpPr>
        <p:spPr>
          <a:xfrm>
            <a:off x="4271293" y="3933527"/>
            <a:ext cx="24546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02189" y="4238327"/>
            <a:ext cx="2037011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6" name="Text 24"/>
          <p:cNvSpPr/>
          <p:nvPr/>
        </p:nvSpPr>
        <p:spPr>
          <a:xfrm>
            <a:off x="6802189" y="3933527"/>
            <a:ext cx="19608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4609802"/>
            <a:ext cx="335689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" y="4305002"/>
            <a:ext cx="3305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post-selection rate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271293" y="4609802"/>
            <a:ext cx="2530897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0" name="Text 28"/>
          <p:cNvSpPr/>
          <p:nvPr/>
        </p:nvSpPr>
        <p:spPr>
          <a:xfrm>
            <a:off x="4271293" y="4305002"/>
            <a:ext cx="24546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[0.496, 0.502]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02189" y="4609802"/>
            <a:ext cx="2037011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2" name="Text 30"/>
          <p:cNvSpPr/>
          <p:nvPr/>
        </p:nvSpPr>
        <p:spPr>
          <a:xfrm>
            <a:off x="6802189" y="4305002"/>
            <a:ext cx="19608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½ (Thm. 2)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4400" y="4981277"/>
            <a:ext cx="335689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4" name="Text 32"/>
          <p:cNvSpPr/>
          <p:nvPr/>
        </p:nvSpPr>
        <p:spPr>
          <a:xfrm>
            <a:off x="990600" y="4676477"/>
            <a:ext cx="3305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wall-clock @ n=4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71293" y="4981277"/>
            <a:ext cx="2530897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6" name="Text 34"/>
          <p:cNvSpPr/>
          <p:nvPr/>
        </p:nvSpPr>
        <p:spPr>
          <a:xfrm>
            <a:off x="4271293" y="4676477"/>
            <a:ext cx="24546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0.36 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802189" y="4981277"/>
            <a:ext cx="2037011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8" name="Text 36"/>
          <p:cNvSpPr/>
          <p:nvPr/>
        </p:nvSpPr>
        <p:spPr>
          <a:xfrm>
            <a:off x="6802189" y="4676477"/>
            <a:ext cx="19608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–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14400" y="5352752"/>
            <a:ext cx="335689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0" name="Text 38"/>
          <p:cNvSpPr/>
          <p:nvPr/>
        </p:nvSpPr>
        <p:spPr>
          <a:xfrm>
            <a:off x="990600" y="5047952"/>
            <a:ext cx="3305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wall-clock @ n=16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271293" y="5352752"/>
            <a:ext cx="2530897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2" name="Text 40"/>
          <p:cNvSpPr/>
          <p:nvPr/>
        </p:nvSpPr>
        <p:spPr>
          <a:xfrm>
            <a:off x="4271293" y="5047952"/>
            <a:ext cx="24546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1203 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802189" y="5352752"/>
            <a:ext cx="2037011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4" name="Text 42"/>
          <p:cNvSpPr/>
          <p:nvPr/>
        </p:nvSpPr>
        <p:spPr>
          <a:xfrm>
            <a:off x="6802189" y="5047952"/>
            <a:ext cx="19608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2ⁿ⁺¹ growth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14400" y="5576590"/>
            <a:ext cx="7924800" cy="891480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46" name="Shape 44"/>
          <p:cNvSpPr/>
          <p:nvPr/>
        </p:nvSpPr>
        <p:spPr>
          <a:xfrm>
            <a:off x="914400" y="5576590"/>
            <a:ext cx="28575" cy="891480"/>
          </a:xfrm>
          <a:prstGeom prst="rect">
            <a:avLst/>
          </a:prstGeom>
          <a:solidFill>
            <a:srgbClr val="2D4A6E"/>
          </a:solidFill>
          <a:ln/>
        </p:spPr>
      </p:sp>
      <p:sp>
        <p:nvSpPr>
          <p:cNvPr id="47" name="Text 45"/>
          <p:cNvSpPr/>
          <p:nvPr/>
        </p:nvSpPr>
        <p:spPr>
          <a:xfrm>
            <a:off x="1133475" y="5728990"/>
            <a:ext cx="775296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E9EDF3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Wall-clock growth is a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simulator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E9EDF3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artefact: the 2ⁿ⁺¹-dim statevector dominates, not any protocol quantity.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14400" y="6601420"/>
            <a:ext cx="7924800" cy="2324100"/>
          </a:xfrm>
          <a:prstGeom prst="rect">
            <a:avLst/>
          </a:prstGeom>
          <a:solidFill>
            <a:srgbClr val="FBF8F1"/>
          </a:solidFill>
          <a:ln w="9525">
            <a:solidFill>
              <a:srgbClr val="A8A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5375" y="6744295"/>
            <a:ext cx="778973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FIG. 1 </a:t>
            </a:r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· WALL-CLOCK VS N · 13 POINTS, N=4…16 · FIXED 6000 COPIES/TRIAL</a:t>
            </a:r>
            <a:endParaRPr lang="en-US" sz="1125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5" y="6949083"/>
            <a:ext cx="7562850" cy="1890713"/>
          </a:xfrm>
          <a:prstGeom prst="rect">
            <a:avLst/>
          </a:prstGeom>
        </p:spPr>
      </p:pic>
      <p:sp>
        <p:nvSpPr>
          <p:cNvPr id="51" name="Shape 48"/>
          <p:cNvSpPr/>
          <p:nvPr/>
        </p:nvSpPr>
        <p:spPr>
          <a:xfrm>
            <a:off x="9448800" y="3000077"/>
            <a:ext cx="79248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52" name="Text 49"/>
          <p:cNvSpPr/>
          <p:nvPr/>
        </p:nvSpPr>
        <p:spPr>
          <a:xfrm>
            <a:off x="9448800" y="2676227"/>
            <a:ext cx="3930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SOUNDNESS · SINGLE-PARITY (4 CHEATS)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13608955" y="2695277"/>
            <a:ext cx="37646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 ∈ {4,…,20} · 100 trials × 4 strategies · 6800 total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9448800" y="3495377"/>
            <a:ext cx="369823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55" name="Text 52"/>
          <p:cNvSpPr/>
          <p:nvPr/>
        </p:nvSpPr>
        <p:spPr>
          <a:xfrm>
            <a:off x="9525000" y="3257252"/>
            <a:ext cx="365677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CHEATING STRATEGY</a:t>
            </a:r>
            <a:endParaRPr lang="en-US" sz="1125" dirty="0"/>
          </a:p>
        </p:txBody>
      </p:sp>
      <p:sp>
        <p:nvSpPr>
          <p:cNvPr id="56" name="Shape 53"/>
          <p:cNvSpPr/>
          <p:nvPr/>
        </p:nvSpPr>
        <p:spPr>
          <a:xfrm>
            <a:off x="13147030" y="3495377"/>
            <a:ext cx="845269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57" name="Text 54"/>
          <p:cNvSpPr/>
          <p:nvPr/>
        </p:nvSpPr>
        <p:spPr>
          <a:xfrm>
            <a:off x="13147030" y="3257252"/>
            <a:ext cx="76906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N=4</a:t>
            </a:r>
            <a:endParaRPr lang="en-US" sz="1125" dirty="0"/>
          </a:p>
        </p:txBody>
      </p:sp>
      <p:sp>
        <p:nvSpPr>
          <p:cNvPr id="58" name="Shape 55"/>
          <p:cNvSpPr/>
          <p:nvPr/>
        </p:nvSpPr>
        <p:spPr>
          <a:xfrm>
            <a:off x="13992299" y="3495377"/>
            <a:ext cx="845269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59" name="Text 56"/>
          <p:cNvSpPr/>
          <p:nvPr/>
        </p:nvSpPr>
        <p:spPr>
          <a:xfrm>
            <a:off x="13992299" y="3257252"/>
            <a:ext cx="76906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N=8</a:t>
            </a:r>
            <a:endParaRPr lang="en-US" sz="1125" dirty="0"/>
          </a:p>
        </p:txBody>
      </p:sp>
      <p:sp>
        <p:nvSpPr>
          <p:cNvPr id="60" name="Shape 57"/>
          <p:cNvSpPr/>
          <p:nvPr/>
        </p:nvSpPr>
        <p:spPr>
          <a:xfrm>
            <a:off x="14837569" y="3495377"/>
            <a:ext cx="845269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61" name="Text 58"/>
          <p:cNvSpPr/>
          <p:nvPr/>
        </p:nvSpPr>
        <p:spPr>
          <a:xfrm>
            <a:off x="14837569" y="3257252"/>
            <a:ext cx="76906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N=12</a:t>
            </a:r>
            <a:endParaRPr lang="en-US" sz="1125" dirty="0"/>
          </a:p>
        </p:txBody>
      </p:sp>
      <p:sp>
        <p:nvSpPr>
          <p:cNvPr id="62" name="Shape 59"/>
          <p:cNvSpPr/>
          <p:nvPr/>
        </p:nvSpPr>
        <p:spPr>
          <a:xfrm>
            <a:off x="15682838" y="3495377"/>
            <a:ext cx="845269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63" name="Text 60"/>
          <p:cNvSpPr/>
          <p:nvPr/>
        </p:nvSpPr>
        <p:spPr>
          <a:xfrm>
            <a:off x="15682838" y="3257252"/>
            <a:ext cx="76906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N=16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16528107" y="3495377"/>
            <a:ext cx="845493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65" name="Text 62"/>
          <p:cNvSpPr/>
          <p:nvPr/>
        </p:nvSpPr>
        <p:spPr>
          <a:xfrm>
            <a:off x="16528107" y="3257252"/>
            <a:ext cx="76929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N=20</a:t>
            </a:r>
            <a:endParaRPr lang="en-US" sz="1125" dirty="0"/>
          </a:p>
        </p:txBody>
      </p:sp>
      <p:sp>
        <p:nvSpPr>
          <p:cNvPr id="66" name="Shape 63"/>
          <p:cNvSpPr/>
          <p:nvPr/>
        </p:nvSpPr>
        <p:spPr>
          <a:xfrm>
            <a:off x="9448800" y="3866852"/>
            <a:ext cx="369823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67" name="Text 64"/>
          <p:cNvSpPr/>
          <p:nvPr/>
        </p:nvSpPr>
        <p:spPr>
          <a:xfrm>
            <a:off x="9525000" y="3562052"/>
            <a:ext cx="36567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random list (5 idx)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13147030" y="3866852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69" name="Text 66"/>
          <p:cNvSpPr/>
          <p:nvPr/>
        </p:nvSpPr>
        <p:spPr>
          <a:xfrm>
            <a:off x="13147030" y="3562052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71%</a:t>
            </a:r>
            <a:endParaRPr lang="en-US" sz="1500" dirty="0"/>
          </a:p>
        </p:txBody>
      </p:sp>
      <p:sp>
        <p:nvSpPr>
          <p:cNvPr id="70" name="Shape 67"/>
          <p:cNvSpPr/>
          <p:nvPr/>
        </p:nvSpPr>
        <p:spPr>
          <a:xfrm>
            <a:off x="13992299" y="3866852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71" name="Text 68"/>
          <p:cNvSpPr/>
          <p:nvPr/>
        </p:nvSpPr>
        <p:spPr>
          <a:xfrm>
            <a:off x="13992299" y="3562052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97%</a:t>
            </a:r>
            <a:endParaRPr lang="en-US" sz="1500" dirty="0"/>
          </a:p>
        </p:txBody>
      </p:sp>
      <p:sp>
        <p:nvSpPr>
          <p:cNvPr id="72" name="Shape 69"/>
          <p:cNvSpPr/>
          <p:nvPr/>
        </p:nvSpPr>
        <p:spPr>
          <a:xfrm>
            <a:off x="14837569" y="3866852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73" name="Text 70"/>
          <p:cNvSpPr/>
          <p:nvPr/>
        </p:nvSpPr>
        <p:spPr>
          <a:xfrm>
            <a:off x="14837569" y="3562052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74" name="Shape 71"/>
          <p:cNvSpPr/>
          <p:nvPr/>
        </p:nvSpPr>
        <p:spPr>
          <a:xfrm>
            <a:off x="15682838" y="3866852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75" name="Text 72"/>
          <p:cNvSpPr/>
          <p:nvPr/>
        </p:nvSpPr>
        <p:spPr>
          <a:xfrm>
            <a:off x="15682838" y="3562052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76" name="Shape 73"/>
          <p:cNvSpPr/>
          <p:nvPr/>
        </p:nvSpPr>
        <p:spPr>
          <a:xfrm>
            <a:off x="16528107" y="3866852"/>
            <a:ext cx="84549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77" name="Text 74"/>
          <p:cNvSpPr/>
          <p:nvPr/>
        </p:nvSpPr>
        <p:spPr>
          <a:xfrm>
            <a:off x="16528107" y="3562052"/>
            <a:ext cx="7692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9448800" y="4238327"/>
            <a:ext cx="369823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79" name="Text 76"/>
          <p:cNvSpPr/>
          <p:nvPr/>
        </p:nvSpPr>
        <p:spPr>
          <a:xfrm>
            <a:off x="9525000" y="3933527"/>
            <a:ext cx="36567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wrong parity</a:t>
            </a:r>
            <a:endParaRPr lang="en-US" sz="1500" dirty="0"/>
          </a:p>
        </p:txBody>
      </p:sp>
      <p:sp>
        <p:nvSpPr>
          <p:cNvPr id="80" name="Shape 77"/>
          <p:cNvSpPr/>
          <p:nvPr/>
        </p:nvSpPr>
        <p:spPr>
          <a:xfrm>
            <a:off x="13147030" y="4238327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81" name="Text 78"/>
          <p:cNvSpPr/>
          <p:nvPr/>
        </p:nvSpPr>
        <p:spPr>
          <a:xfrm>
            <a:off x="13147030" y="3933527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82" name="Shape 79"/>
          <p:cNvSpPr/>
          <p:nvPr/>
        </p:nvSpPr>
        <p:spPr>
          <a:xfrm>
            <a:off x="13992299" y="4238327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83" name="Text 80"/>
          <p:cNvSpPr/>
          <p:nvPr/>
        </p:nvSpPr>
        <p:spPr>
          <a:xfrm>
            <a:off x="13992299" y="3933527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14837569" y="4238327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85" name="Text 82"/>
          <p:cNvSpPr/>
          <p:nvPr/>
        </p:nvSpPr>
        <p:spPr>
          <a:xfrm>
            <a:off x="14837569" y="3933527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86" name="Shape 83"/>
          <p:cNvSpPr/>
          <p:nvPr/>
        </p:nvSpPr>
        <p:spPr>
          <a:xfrm>
            <a:off x="15682838" y="4238327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87" name="Text 84"/>
          <p:cNvSpPr/>
          <p:nvPr/>
        </p:nvSpPr>
        <p:spPr>
          <a:xfrm>
            <a:off x="15682838" y="3933527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88" name="Shape 85"/>
          <p:cNvSpPr/>
          <p:nvPr/>
        </p:nvSpPr>
        <p:spPr>
          <a:xfrm>
            <a:off x="16528107" y="4238327"/>
            <a:ext cx="84549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89" name="Text 86"/>
          <p:cNvSpPr/>
          <p:nvPr/>
        </p:nvSpPr>
        <p:spPr>
          <a:xfrm>
            <a:off x="16528107" y="3933527"/>
            <a:ext cx="7692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90" name="Shape 87"/>
          <p:cNvSpPr/>
          <p:nvPr/>
        </p:nvSpPr>
        <p:spPr>
          <a:xfrm>
            <a:off x="9448800" y="4609802"/>
            <a:ext cx="369823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91" name="Text 88"/>
          <p:cNvSpPr/>
          <p:nvPr/>
        </p:nvSpPr>
        <p:spPr>
          <a:xfrm>
            <a:off x="9525000" y="4305002"/>
            <a:ext cx="36567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empty list</a:t>
            </a:r>
            <a:endParaRPr lang="en-US" sz="1500" dirty="0"/>
          </a:p>
        </p:txBody>
      </p:sp>
      <p:sp>
        <p:nvSpPr>
          <p:cNvPr id="92" name="Shape 89"/>
          <p:cNvSpPr/>
          <p:nvPr/>
        </p:nvSpPr>
        <p:spPr>
          <a:xfrm>
            <a:off x="13147030" y="4609802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93" name="Text 90"/>
          <p:cNvSpPr/>
          <p:nvPr/>
        </p:nvSpPr>
        <p:spPr>
          <a:xfrm>
            <a:off x="13147030" y="4305002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13992299" y="4609802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95" name="Text 92"/>
          <p:cNvSpPr/>
          <p:nvPr/>
        </p:nvSpPr>
        <p:spPr>
          <a:xfrm>
            <a:off x="13992299" y="4305002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96" name="Shape 93"/>
          <p:cNvSpPr/>
          <p:nvPr/>
        </p:nvSpPr>
        <p:spPr>
          <a:xfrm>
            <a:off x="14837569" y="4609802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97" name="Text 94"/>
          <p:cNvSpPr/>
          <p:nvPr/>
        </p:nvSpPr>
        <p:spPr>
          <a:xfrm>
            <a:off x="14837569" y="4305002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98" name="Shape 95"/>
          <p:cNvSpPr/>
          <p:nvPr/>
        </p:nvSpPr>
        <p:spPr>
          <a:xfrm>
            <a:off x="15682838" y="4609802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99" name="Text 96"/>
          <p:cNvSpPr/>
          <p:nvPr/>
        </p:nvSpPr>
        <p:spPr>
          <a:xfrm>
            <a:off x="15682838" y="4305002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100" name="Shape 97"/>
          <p:cNvSpPr/>
          <p:nvPr/>
        </p:nvSpPr>
        <p:spPr>
          <a:xfrm>
            <a:off x="16528107" y="4609802"/>
            <a:ext cx="84549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01" name="Text 98"/>
          <p:cNvSpPr/>
          <p:nvPr/>
        </p:nvSpPr>
        <p:spPr>
          <a:xfrm>
            <a:off x="16528107" y="4305002"/>
            <a:ext cx="7692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102" name="Shape 99"/>
          <p:cNvSpPr/>
          <p:nvPr/>
        </p:nvSpPr>
        <p:spPr>
          <a:xfrm>
            <a:off x="9448800" y="4981277"/>
            <a:ext cx="3698230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03" name="Text 100"/>
          <p:cNvSpPr/>
          <p:nvPr/>
        </p:nvSpPr>
        <p:spPr>
          <a:xfrm>
            <a:off x="9525000" y="4676477"/>
            <a:ext cx="36567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inflated list (10 idx)</a:t>
            </a:r>
            <a:endParaRPr lang="en-US" sz="1500" dirty="0"/>
          </a:p>
        </p:txBody>
      </p:sp>
      <p:sp>
        <p:nvSpPr>
          <p:cNvPr id="104" name="Shape 101"/>
          <p:cNvSpPr/>
          <p:nvPr/>
        </p:nvSpPr>
        <p:spPr>
          <a:xfrm>
            <a:off x="13147030" y="4981277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05" name="Text 102"/>
          <p:cNvSpPr/>
          <p:nvPr/>
        </p:nvSpPr>
        <p:spPr>
          <a:xfrm>
            <a:off x="13147030" y="4676477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106" name="Shape 103"/>
          <p:cNvSpPr/>
          <p:nvPr/>
        </p:nvSpPr>
        <p:spPr>
          <a:xfrm>
            <a:off x="13992299" y="4981277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07" name="Text 104"/>
          <p:cNvSpPr/>
          <p:nvPr/>
        </p:nvSpPr>
        <p:spPr>
          <a:xfrm>
            <a:off x="13992299" y="4676477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108" name="Shape 105"/>
          <p:cNvSpPr/>
          <p:nvPr/>
        </p:nvSpPr>
        <p:spPr>
          <a:xfrm>
            <a:off x="14837569" y="4981277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09" name="Text 106"/>
          <p:cNvSpPr/>
          <p:nvPr/>
        </p:nvSpPr>
        <p:spPr>
          <a:xfrm>
            <a:off x="14837569" y="4676477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110" name="Shape 107"/>
          <p:cNvSpPr/>
          <p:nvPr/>
        </p:nvSpPr>
        <p:spPr>
          <a:xfrm>
            <a:off x="15682838" y="4981277"/>
            <a:ext cx="845269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11" name="Text 108"/>
          <p:cNvSpPr/>
          <p:nvPr/>
        </p:nvSpPr>
        <p:spPr>
          <a:xfrm>
            <a:off x="15682838" y="4676477"/>
            <a:ext cx="7690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112" name="Shape 109"/>
          <p:cNvSpPr/>
          <p:nvPr/>
        </p:nvSpPr>
        <p:spPr>
          <a:xfrm>
            <a:off x="16528107" y="4981277"/>
            <a:ext cx="84549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113" name="Text 110"/>
          <p:cNvSpPr/>
          <p:nvPr/>
        </p:nvSpPr>
        <p:spPr>
          <a:xfrm>
            <a:off x="16528107" y="4676477"/>
            <a:ext cx="7692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114" name="Shape 111"/>
          <p:cNvSpPr/>
          <p:nvPr/>
        </p:nvSpPr>
        <p:spPr>
          <a:xfrm>
            <a:off x="9448800" y="5205115"/>
            <a:ext cx="7924800" cy="891480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15" name="Shape 112"/>
          <p:cNvSpPr/>
          <p:nvPr/>
        </p:nvSpPr>
        <p:spPr>
          <a:xfrm>
            <a:off x="9448800" y="5205115"/>
            <a:ext cx="28575" cy="891480"/>
          </a:xfrm>
          <a:prstGeom prst="rect">
            <a:avLst/>
          </a:prstGeom>
          <a:solidFill>
            <a:srgbClr val="2D4A6E"/>
          </a:solidFill>
          <a:ln/>
        </p:spPr>
      </p:sp>
      <p:sp>
        <p:nvSpPr>
          <p:cNvPr id="116" name="Text 113"/>
          <p:cNvSpPr/>
          <p:nvPr/>
        </p:nvSpPr>
        <p:spPr>
          <a:xfrm>
            <a:off x="9667875" y="5357515"/>
            <a:ext cx="775296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Accidental accepts, not soundness violations. 5-element random lists hit s* with probability 5/2ⁿ. At n=4: predicted 31, observed 29 out of 100 trials.</a:t>
            </a:r>
            <a:endParaRPr lang="en-US" sz="1650" dirty="0"/>
          </a:p>
        </p:txBody>
      </p:sp>
      <p:sp>
        <p:nvSpPr>
          <p:cNvPr id="117" name="Shape 114"/>
          <p:cNvSpPr/>
          <p:nvPr/>
        </p:nvSpPr>
        <p:spPr>
          <a:xfrm>
            <a:off x="9448800" y="6306145"/>
            <a:ext cx="7924800" cy="891480"/>
          </a:xfrm>
          <a:prstGeom prst="rect">
            <a:avLst/>
          </a:prstGeom>
          <a:solidFill>
            <a:srgbClr val="F3EBE6"/>
          </a:solidFill>
          <a:ln/>
        </p:spPr>
      </p:sp>
      <p:sp>
        <p:nvSpPr>
          <p:cNvPr id="118" name="Shape 115"/>
          <p:cNvSpPr/>
          <p:nvPr/>
        </p:nvSpPr>
        <p:spPr>
          <a:xfrm>
            <a:off x="9448800" y="6306145"/>
            <a:ext cx="28575" cy="891480"/>
          </a:xfrm>
          <a:prstGeom prst="rect">
            <a:avLst/>
          </a:prstGeom>
          <a:solidFill>
            <a:srgbClr val="8A2A18"/>
          </a:solidFill>
          <a:ln/>
        </p:spPr>
      </p:sp>
      <p:sp>
        <p:nvSpPr>
          <p:cNvPr id="119" name="Text 116"/>
          <p:cNvSpPr/>
          <p:nvPr/>
        </p:nvSpPr>
        <p:spPr>
          <a:xfrm>
            <a:off x="9667875" y="6458545"/>
            <a:ext cx="775296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Limitation: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list-size bound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64b²/ϑ²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≈ 711 never triggered: largest adversarial list submitted had </a:t>
            </a:r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|L| = 10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. Future work.</a:t>
            </a:r>
            <a:endParaRPr lang="en-US" sz="1650" dirty="0"/>
          </a:p>
        </p:txBody>
      </p:sp>
      <p:sp>
        <p:nvSpPr>
          <p:cNvPr id="120" name="Shape 117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21" name="Text 118"/>
          <p:cNvSpPr/>
          <p:nvPr/>
        </p:nvSpPr>
        <p:spPr>
          <a:xfrm>
            <a:off x="914400" y="9629775"/>
            <a:ext cx="27219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§5.1 Completeness · §5.2.1 Soundness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1538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63601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05 / 09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185863"/>
            <a:ext cx="14716125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spc="-58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Multi-element soundness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2445395"/>
            <a:ext cx="832098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545"/>
            <a:ext cx="41113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MULTI-ELEMENT CHEATS · REJECTION RATE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92444" y="2140595"/>
            <a:ext cx="334293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k-sparse targets · per-cell minimum across 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88270"/>
            <a:ext cx="8320980" cy="4678933"/>
          </a:xfrm>
          <a:prstGeom prst="rect">
            <a:avLst/>
          </a:prstGeom>
          <a:solidFill>
            <a:srgbClr val="FBF8F1"/>
          </a:solidFill>
          <a:ln w="9525">
            <a:solidFill>
              <a:srgbClr val="A8A39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2826395"/>
            <a:ext cx="7844730" cy="427888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844980" y="2445395"/>
            <a:ext cx="7528545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1" name="Text 8"/>
          <p:cNvSpPr/>
          <p:nvPr/>
        </p:nvSpPr>
        <p:spPr>
          <a:xfrm>
            <a:off x="9844980" y="2121545"/>
            <a:ext cx="232298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MECHANISM &amp; FRAMING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244688" y="2140595"/>
            <a:ext cx="212883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why the 91% floor sits there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844980" y="2626370"/>
            <a:ext cx="7754401" cy="1444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adversary submits the </a:t>
            </a:r>
            <a:pPr algn="l" indent="0" marL="0">
              <a:lnSpc>
                <a:spcPct val="142000"/>
              </a:lnSpc>
              <a:buNone/>
            </a:pPr>
            <a:r>
              <a:rPr lang="en-US" sz="19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true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heaviest Fourier coefficient alongside five fakes. The verifier’s weight check </a:t>
            </a:r>
            <a:pPr algn="l" indent="0" marL="0">
              <a:lnSpc>
                <a:spcPct val="142000"/>
              </a:lnSpc>
              <a:buNone/>
            </a:pPr>
            <a:r>
              <a:rPr lang="en-US" sz="19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Σ ϕ̃(s)² &lt; a² − ε²/8 </a:t>
            </a:r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is dominated by the real signal; only marginally tipped under threshold.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9844980" y="4413796"/>
            <a:ext cx="7528545" cy="891480"/>
          </a:xfrm>
          <a:prstGeom prst="rect">
            <a:avLst/>
          </a:prstGeom>
          <a:solidFill>
            <a:srgbClr val="F3EBE6"/>
          </a:solidFill>
          <a:ln/>
        </p:spPr>
      </p:sp>
      <p:sp>
        <p:nvSpPr>
          <p:cNvPr id="15" name="Shape 12"/>
          <p:cNvSpPr/>
          <p:nvPr/>
        </p:nvSpPr>
        <p:spPr>
          <a:xfrm>
            <a:off x="9844980" y="4413796"/>
            <a:ext cx="28575" cy="891480"/>
          </a:xfrm>
          <a:prstGeom prst="rect">
            <a:avLst/>
          </a:prstGeom>
          <a:solidFill>
            <a:srgbClr val="8A2A18"/>
          </a:solidFill>
          <a:ln/>
        </p:spPr>
      </p:sp>
      <p:sp>
        <p:nvSpPr>
          <p:cNvPr id="16" name="Text 13"/>
          <p:cNvSpPr/>
          <p:nvPr/>
        </p:nvSpPr>
        <p:spPr>
          <a:xfrm>
            <a:off x="10064055" y="4566196"/>
            <a:ext cx="7344826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Definition 7 (Caro et al.) is universally quantified; these strategies are a spot-check, not a refutation.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9844980" y="5905351"/>
            <a:ext cx="3152031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8" name="Text 15"/>
          <p:cNvSpPr/>
          <p:nvPr/>
        </p:nvSpPr>
        <p:spPr>
          <a:xfrm>
            <a:off x="9921180" y="5667226"/>
            <a:ext cx="309419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STRATEGY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12997011" y="5905351"/>
            <a:ext cx="1528614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20" name="Text 17"/>
          <p:cNvSpPr/>
          <p:nvPr/>
        </p:nvSpPr>
        <p:spPr>
          <a:xfrm>
            <a:off x="12997011" y="5667226"/>
            <a:ext cx="14524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K=2 MEAN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14525625" y="5905351"/>
            <a:ext cx="1319138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22" name="Text 19"/>
          <p:cNvSpPr/>
          <p:nvPr/>
        </p:nvSpPr>
        <p:spPr>
          <a:xfrm>
            <a:off x="14525625" y="5667226"/>
            <a:ext cx="12429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K=2 MIN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15844763" y="5905351"/>
            <a:ext cx="1528763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24" name="Text 21"/>
          <p:cNvSpPr/>
          <p:nvPr/>
        </p:nvSpPr>
        <p:spPr>
          <a:xfrm>
            <a:off x="15844763" y="5667226"/>
            <a:ext cx="14525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K=4 MEAN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9844980" y="6276826"/>
            <a:ext cx="3152031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6" name="Text 23"/>
          <p:cNvSpPr/>
          <p:nvPr/>
        </p:nvSpPr>
        <p:spPr>
          <a:xfrm>
            <a:off x="9921180" y="5972026"/>
            <a:ext cx="30941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partial real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2997011" y="6276826"/>
            <a:ext cx="1528614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28" name="Text 25"/>
          <p:cNvSpPr/>
          <p:nvPr/>
        </p:nvSpPr>
        <p:spPr>
          <a:xfrm>
            <a:off x="12997011" y="5972026"/>
            <a:ext cx="1452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4525625" y="6276826"/>
            <a:ext cx="1319138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0" name="Text 27"/>
          <p:cNvSpPr/>
          <p:nvPr/>
        </p:nvSpPr>
        <p:spPr>
          <a:xfrm>
            <a:off x="14525625" y="5972026"/>
            <a:ext cx="1242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5844763" y="6276826"/>
            <a:ext cx="152876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2" name="Text 29"/>
          <p:cNvSpPr/>
          <p:nvPr/>
        </p:nvSpPr>
        <p:spPr>
          <a:xfrm>
            <a:off x="15844763" y="5972026"/>
            <a:ext cx="14525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9844980" y="6648301"/>
            <a:ext cx="3152031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4" name="Text 31"/>
          <p:cNvSpPr/>
          <p:nvPr/>
        </p:nvSpPr>
        <p:spPr>
          <a:xfrm>
            <a:off x="9921180" y="6343501"/>
            <a:ext cx="30941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diluted list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2997011" y="6648301"/>
            <a:ext cx="1528614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6" name="Text 33"/>
          <p:cNvSpPr/>
          <p:nvPr/>
        </p:nvSpPr>
        <p:spPr>
          <a:xfrm>
            <a:off x="12997011" y="6343501"/>
            <a:ext cx="1452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98.5%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4525625" y="6648301"/>
            <a:ext cx="1319138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38" name="Text 35"/>
          <p:cNvSpPr/>
          <p:nvPr/>
        </p:nvSpPr>
        <p:spPr>
          <a:xfrm>
            <a:off x="14525625" y="6343501"/>
            <a:ext cx="1242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5844763" y="6648301"/>
            <a:ext cx="152876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0" name="Text 37"/>
          <p:cNvSpPr/>
          <p:nvPr/>
        </p:nvSpPr>
        <p:spPr>
          <a:xfrm>
            <a:off x="15844763" y="6343501"/>
            <a:ext cx="14525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9844980" y="7019776"/>
            <a:ext cx="3152031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2" name="Text 39"/>
          <p:cNvSpPr/>
          <p:nvPr/>
        </p:nvSpPr>
        <p:spPr>
          <a:xfrm>
            <a:off x="9921180" y="6714976"/>
            <a:ext cx="30941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entirely wrong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12997011" y="7019776"/>
            <a:ext cx="1528614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4" name="Text 41"/>
          <p:cNvSpPr/>
          <p:nvPr/>
        </p:nvSpPr>
        <p:spPr>
          <a:xfrm>
            <a:off x="12997011" y="6714976"/>
            <a:ext cx="1452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14525625" y="7019776"/>
            <a:ext cx="1319138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6" name="Text 43"/>
          <p:cNvSpPr/>
          <p:nvPr/>
        </p:nvSpPr>
        <p:spPr>
          <a:xfrm>
            <a:off x="14525625" y="6714976"/>
            <a:ext cx="1242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15844763" y="7019776"/>
            <a:ext cx="152876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48" name="Text 45"/>
          <p:cNvSpPr/>
          <p:nvPr/>
        </p:nvSpPr>
        <p:spPr>
          <a:xfrm>
            <a:off x="15844763" y="6714976"/>
            <a:ext cx="14525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9844980" y="7391251"/>
            <a:ext cx="3152031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50" name="Text 47"/>
          <p:cNvSpPr/>
          <p:nvPr/>
        </p:nvSpPr>
        <p:spPr>
          <a:xfrm>
            <a:off x="9921180" y="7086451"/>
            <a:ext cx="30941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subset + noise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12997011" y="7391251"/>
            <a:ext cx="1528614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52" name="Text 49"/>
          <p:cNvSpPr/>
          <p:nvPr/>
        </p:nvSpPr>
        <p:spPr>
          <a:xfrm>
            <a:off x="12997011" y="7086451"/>
            <a:ext cx="1452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95.1%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14525625" y="7391251"/>
            <a:ext cx="1319138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54" name="Text 51"/>
          <p:cNvSpPr/>
          <p:nvPr/>
        </p:nvSpPr>
        <p:spPr>
          <a:xfrm>
            <a:off x="14525625" y="7086451"/>
            <a:ext cx="1242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91%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15844763" y="7391251"/>
            <a:ext cx="1528763" cy="9525"/>
          </a:xfrm>
          <a:prstGeom prst="rect">
            <a:avLst/>
          </a:prstGeom>
          <a:solidFill>
            <a:srgbClr val="C9C4BA"/>
          </a:solidFill>
          <a:ln/>
        </p:spPr>
      </p:sp>
      <p:sp>
        <p:nvSpPr>
          <p:cNvPr id="56" name="Text 53"/>
          <p:cNvSpPr/>
          <p:nvPr/>
        </p:nvSpPr>
        <p:spPr>
          <a:xfrm>
            <a:off x="15844763" y="7086451"/>
            <a:ext cx="14525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99.8%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9844980" y="7672239"/>
            <a:ext cx="775440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spc="27" kern="0" dirty="0">
                <a:solidFill>
                  <a:srgbClr val="75716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Attribution precision: separating structural from adversarial rejection.</a:t>
            </a:r>
            <a:endParaRPr lang="en-US" sz="1350" dirty="0"/>
          </a:p>
        </p:txBody>
      </p:sp>
      <p:sp>
        <p:nvSpPr>
          <p:cNvPr id="58" name="Shape 55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59" name="Text 56"/>
          <p:cNvSpPr/>
          <p:nvPr/>
        </p:nvSpPr>
        <p:spPr>
          <a:xfrm>
            <a:off x="914400" y="9629775"/>
            <a:ext cx="33983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§5.2.2 Multi-element dishonest provers · Table 4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14535596" y="9629775"/>
            <a:ext cx="29231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Failure mode #1: vanishing-margin ceiling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1538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63601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06 / 09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9017" y="533400"/>
            <a:ext cx="438839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ROBUSTNESS: (1−2Η)² FIT AND THE GATE-NOISE CLIFF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185863"/>
            <a:ext cx="14716125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spc="-58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cleanest theory match; the only experiment outside Caro et al.’s promise universe.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3017044"/>
            <a:ext cx="79248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76227"/>
            <a:ext cx="3139133" cy="302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0" kern="0" dirty="0">
                <a:solidFill>
                  <a:srgbClr val="2D4A6E"/>
                </a:solidFill>
                <a:highlight>
                  <a:srgbClr val="E8EEF5"/>
                </a:highlight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THEORY MATCH </a:t>
            </a:r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LABEL-FLIP SWEEP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12905" y="2695277"/>
            <a:ext cx="202629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~17k trials · 13 noise rates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159919"/>
            <a:ext cx="7924800" cy="3934644"/>
          </a:xfrm>
          <a:prstGeom prst="rect">
            <a:avLst/>
          </a:prstGeom>
          <a:solidFill>
            <a:srgbClr val="FBF8F1"/>
          </a:solidFill>
          <a:ln w="9525">
            <a:solidFill>
              <a:srgbClr val="A8A3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7304112"/>
            <a:ext cx="7924800" cy="838200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7304112"/>
            <a:ext cx="28575" cy="838200"/>
          </a:xfrm>
          <a:prstGeom prst="rect">
            <a:avLst/>
          </a:prstGeom>
          <a:solidFill>
            <a:srgbClr val="2D4A6E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475" y="7456512"/>
            <a:ext cx="775296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&lt; 1.8% relative error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1512"/>
                </a:solidFill>
                <a:highlight>
                  <a:srgbClr val="E9EDF3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across all n ∈ {4,…,16}, all η ≤ 0.42. Sharp empty-list transition at η ≈ 0.447: exact root where margin (1−2η)² − ε²/8 goes negative. </a:t>
            </a:r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Lean on this.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448800" y="3017044"/>
            <a:ext cx="79248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4" name="Text 12"/>
          <p:cNvSpPr/>
          <p:nvPr/>
        </p:nvSpPr>
        <p:spPr>
          <a:xfrm>
            <a:off x="9448800" y="2676227"/>
            <a:ext cx="2557388" cy="302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0" kern="0" dirty="0">
                <a:solidFill>
                  <a:srgbClr val="FFFFFF"/>
                </a:solidFill>
                <a:highlight>
                  <a:srgbClr val="8A2A18"/>
                </a:highlight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NOVEL </a:t>
            </a:r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GATE-NOISE CLIFF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50939" y="2695277"/>
            <a:ext cx="21226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circuit backend · n ∈ {4,…,8}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448800" y="3159919"/>
            <a:ext cx="7924800" cy="3934644"/>
          </a:xfrm>
          <a:prstGeom prst="rect">
            <a:avLst/>
          </a:prstGeom>
          <a:solidFill>
            <a:srgbClr val="FBF8F1"/>
          </a:solidFill>
          <a:ln w="9525">
            <a:solidFill>
              <a:srgbClr val="A8A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48800" y="7304112"/>
            <a:ext cx="7924800" cy="1371600"/>
          </a:xfrm>
          <a:prstGeom prst="rect">
            <a:avLst/>
          </a:prstGeom>
          <a:solidFill>
            <a:srgbClr val="F3EBE6"/>
          </a:solidFill>
          <a:ln/>
        </p:spPr>
      </p:sp>
      <p:sp>
        <p:nvSpPr>
          <p:cNvPr id="18" name="Shape 16"/>
          <p:cNvSpPr/>
          <p:nvPr/>
        </p:nvSpPr>
        <p:spPr>
          <a:xfrm>
            <a:off x="9448800" y="7304112"/>
            <a:ext cx="28575" cy="1371600"/>
          </a:xfrm>
          <a:prstGeom prst="rect">
            <a:avLst/>
          </a:prstGeom>
          <a:solidFill>
            <a:srgbClr val="8A2A18"/>
          </a:solidFill>
          <a:ln/>
        </p:spPr>
      </p:sp>
      <p:sp>
        <p:nvSpPr>
          <p:cNvPr id="19" name="Text 17"/>
          <p:cNvSpPr/>
          <p:nvPr/>
        </p:nvSpPr>
        <p:spPr>
          <a:xfrm>
            <a:off x="9667875" y="7456512"/>
            <a:ext cx="7752969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Uniform noise floor </a:t>
            </a:r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1/2ⁿ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exceeds the extraction threshold </a:t>
            </a:r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ϑ²/4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for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n ≤ 5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; crosses below at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n = 6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1512"/>
                </a:solidFill>
                <a:highlight>
                  <a:srgbClr val="F3EBE6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. Explains why n ≤ 5 looks robust and n ≥ 6 collapses. Ma–Su–Deng cover output-side noise, not per-gate depolarising. </a:t>
            </a:r>
            <a:pPr algn="l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Genuine open question.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21" name="Text 19"/>
          <p:cNvSpPr/>
          <p:nvPr/>
        </p:nvSpPr>
        <p:spPr>
          <a:xfrm>
            <a:off x="15104046" y="9629775"/>
            <a:ext cx="23457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Failure mode #2: prover-side cliff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1538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63601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07 / 09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9017" y="533400"/>
            <a:ext cx="420505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SENSITIVITY: BENT FUNCTIONS &amp; THE Θ-BOUNDARY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185863"/>
            <a:ext cx="14716125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spc="-58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Violating protocol preconditions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459682"/>
            <a:ext cx="7528545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35832"/>
            <a:ext cx="44897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BENT FUNCTIONS · PERFECTLY FLAT SPECTRUM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6373" y="2121545"/>
            <a:ext cx="26765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Maiorana–McFarland · |ĝ(s)| = 2</a:t>
            </a:r>
            <a:pPr algn="r" indent="0" marL="0">
              <a:buNone/>
            </a:pPr>
            <a:r>
              <a:rPr lang="en-US" sz="1125" baseline="3000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−n/2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659707"/>
            <a:ext cx="6216030" cy="67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Corollary 5 (Caro et al.) excludes </a:t>
            </a:r>
            <a:pPr algn="l" indent="0" marL="0">
              <a:lnSpc>
                <a:spcPct val="142000"/>
              </a:lnSpc>
              <a:buNone/>
            </a:pPr>
            <a:r>
              <a:rPr lang="en-US" sz="16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 </a:t>
            </a:r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whenever </a:t>
            </a:r>
            <a:pPr algn="l" indent="0" marL="0">
              <a:lnSpc>
                <a:spcPct val="142000"/>
              </a:lnSpc>
              <a:buNone/>
            </a:pPr>
            <a:r>
              <a:rPr lang="en-US" sz="16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|ĝ(s)| &lt; ε/2 </a:t>
            </a:r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. Flat bent coefficients </a:t>
            </a:r>
            <a:pPr algn="l" indent="0" marL="0">
              <a:lnSpc>
                <a:spcPct val="142000"/>
              </a:lnSpc>
              <a:buNone/>
            </a:pPr>
            <a:r>
              <a:rPr lang="en-US" sz="16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</a:t>
            </a:r>
            <a:pPr algn="l" indent="0" marL="0">
              <a:lnSpc>
                <a:spcPct val="142000"/>
              </a:lnSpc>
              <a:buNone/>
            </a:pPr>
            <a:r>
              <a:rPr lang="en-US" sz="1375" baseline="3000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−n/2 </a:t>
            </a:r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at </a:t>
            </a:r>
            <a:pPr algn="l" indent="0" marL="0">
              <a:lnSpc>
                <a:spcPct val="142000"/>
              </a:lnSpc>
              <a:buNone/>
            </a:pPr>
            <a:r>
              <a:rPr lang="en-US" sz="16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ε = 0.3 </a:t>
            </a:r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hit that boundary at: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3676948"/>
            <a:ext cx="7528545" cy="816546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676948"/>
            <a:ext cx="28575" cy="816546"/>
          </a:xfrm>
          <a:prstGeom prst="rect">
            <a:avLst/>
          </a:prstGeom>
          <a:solidFill>
            <a:srgbClr val="2D4A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1497" y="3848398"/>
            <a:ext cx="7382926" cy="511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n = 2 log</a:t>
            </a:r>
            <a:pPr algn="ctr" indent="0" marL="0">
              <a:lnSpc>
                <a:spcPct val="140000"/>
              </a:lnSpc>
              <a:buNone/>
            </a:pPr>
            <a:r>
              <a:rPr lang="en-US" sz="2000" baseline="-4000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</a:t>
            </a:r>
            <a:pPr algn="ctr"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(2/ε) ≈ 5.47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4626843"/>
            <a:ext cx="7528545" cy="4111898"/>
          </a:xfrm>
          <a:prstGeom prst="rect">
            <a:avLst/>
          </a:prstGeom>
          <a:solidFill>
            <a:srgbClr val="FBF8F1"/>
          </a:solidFill>
          <a:ln w="9525">
            <a:solidFill>
              <a:srgbClr val="A8A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475" y="4845918"/>
            <a:ext cx="730310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FIG. 5 </a:t>
            </a:r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· RECOVERED LIST SIZE |L| VS N</a:t>
            </a:r>
            <a:endParaRPr lang="en-US" sz="112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" y="5088806"/>
            <a:ext cx="7090395" cy="3545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052545" y="2445395"/>
            <a:ext cx="832098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7" name="Text 14"/>
          <p:cNvSpPr/>
          <p:nvPr/>
        </p:nvSpPr>
        <p:spPr>
          <a:xfrm>
            <a:off x="9052545" y="2121545"/>
            <a:ext cx="2437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Θ-SENSITIVITY HEATMAP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030896" y="2140595"/>
            <a:ext cx="334263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target: dominant 0.7 + three secondaries 0.1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052545" y="2645420"/>
            <a:ext cx="6216030" cy="1258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ϑ lower-bounds the magnitude of all non-zero Fourier coefficients. Sweep ϑ against n: acceptance collapses at the frontier </a:t>
            </a:r>
            <a:pPr algn="l" indent="0" marL="0">
              <a:lnSpc>
                <a:spcPct val="142000"/>
              </a:lnSpc>
              <a:buNone/>
            </a:pPr>
            <a:r>
              <a:rPr lang="en-US" sz="16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ϑ = 2·c</a:t>
            </a:r>
            <a:pPr algn="l" indent="0" marL="0">
              <a:lnSpc>
                <a:spcPct val="142000"/>
              </a:lnSpc>
              <a:buNone/>
            </a:pPr>
            <a:r>
              <a:rPr lang="en-US" sz="1375" baseline="-4000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sec </a:t>
            </a:r>
            <a:pPr algn="l" indent="0" marL="0">
              <a:lnSpc>
                <a:spcPct val="142000"/>
              </a:lnSpc>
              <a:buNone/>
            </a:pPr>
            <a:r>
              <a:rPr lang="en-US" sz="16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= 0.2 </a:t>
            </a:r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: where the small-coefficient promise fails.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9052545" y="4170685"/>
            <a:ext cx="8320980" cy="4157514"/>
          </a:xfrm>
          <a:prstGeom prst="rect">
            <a:avLst/>
          </a:prstGeom>
          <a:solidFill>
            <a:srgbClr val="FBF8F1"/>
          </a:solidFill>
          <a:ln w="9525">
            <a:solidFill>
              <a:srgbClr val="A8A39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71620" y="4389760"/>
            <a:ext cx="81193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FIG. 6 </a:t>
            </a:r>
            <a:pPr algn="l" indent="0" marL="0">
              <a:buNone/>
            </a:pPr>
            <a:r>
              <a:rPr lang="en-US" sz="1125" spc="68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· ACCEPTANCE RATE · DARKER = HIGHER</a:t>
            </a:r>
            <a:endParaRPr lang="en-US" sz="1125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620" y="4651697"/>
            <a:ext cx="7882830" cy="353362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" y="9629775"/>
            <a:ext cx="30109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§5.4.1 Bent functions · §5.4.2 ϑ-sensitivity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1538"/>
            <a:ext cx="164592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63601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F6F3E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08 / 09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9017" y="533400"/>
            <a:ext cx="262177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6F3E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LIMITATIONS &amp; CONTRIBUTIONS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185863"/>
            <a:ext cx="14716125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spc="-58" kern="0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Empirical mechanism study, not an asymptotic validation. Two failure modes characterised; one open question raised.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3000077"/>
            <a:ext cx="79248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76227"/>
            <a:ext cx="12958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F6F3E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81465" y="2695277"/>
            <a:ext cx="235773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9C978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own these before they’re asked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4307235"/>
            <a:ext cx="79248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3238202"/>
            <a:ext cx="7895844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Sample budgets three orders below analytic Hoeffding. 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For 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|L|=10, ε=0.3, δ=0.1 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requirement is ≈ 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3.8×10⁷ 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; experiments use ~10⁴. Maps mechanisms, not asymptotic complexity.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5156448"/>
            <a:ext cx="79248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4412010"/>
            <a:ext cx="7895844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No real quantum hardware. 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Every measurement is classical simulation. Cross-talk, decay, biased readout are unstressed.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1100" y="5261223"/>
            <a:ext cx="7895844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Brute-force circuit oracle caps gate-noise study at n=8. 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MCX construction is exponential; the Statevector path avoids this but cannot carry per-gate noise.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48800" y="3000077"/>
            <a:ext cx="79248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15" name="Text 13"/>
          <p:cNvSpPr/>
          <p:nvPr/>
        </p:nvSpPr>
        <p:spPr>
          <a:xfrm>
            <a:off x="9448800" y="2676227"/>
            <a:ext cx="16248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F6F3E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CONTRIBUTIONS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745718" y="2695277"/>
            <a:ext cx="16278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27" kern="0" dirty="0">
                <a:solidFill>
                  <a:srgbClr val="9C978C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what this report adds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448800" y="3658046"/>
            <a:ext cx="79248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3238202"/>
            <a:ext cx="7895844" cy="362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First faithful implementation of the MoS protocol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48800" y="4831854"/>
            <a:ext cx="79248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3762821"/>
            <a:ext cx="7895844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Two failure modes characterised. 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Vanishing-margin acceptance ceiling under mixed-coefficient cheats; prover-side cliff under per-gate depolarising noise.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15500" y="4936629"/>
            <a:ext cx="7895844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b="1" dirty="0">
                <a:solidFill>
                  <a:srgbClr val="F6F3E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One open theoretical question raised. </a:t>
            </a:r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DAD4C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Per-gate depolarising noise: Ma–Su–Deng treat output-side, not gate-side.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9486900"/>
            <a:ext cx="16459200" cy="9525"/>
          </a:xfrm>
          <a:prstGeom prst="rect">
            <a:avLst/>
          </a:prstGeom>
          <a:solidFill>
            <a:srgbClr val="3A3733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629775"/>
            <a:ext cx="32512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EFEAD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§6 Discussion · §7.1 Summary of contributions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71538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3400"/>
            <a:ext cx="63601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161512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09 / 09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9017" y="533400"/>
            <a:ext cx="120491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185863"/>
            <a:ext cx="14716125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spc="-58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Three directions in roughly decreasing impact on what this report can support.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961977"/>
            <a:ext cx="1710630" cy="261937"/>
          </a:xfrm>
          <a:prstGeom prst="roundRect">
            <a:avLst>
              <a:gd name="adj" fmla="val 7273"/>
            </a:avLst>
          </a:prstGeom>
          <a:ln w="9525">
            <a:solidFill>
              <a:srgbClr val="A8A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3000077"/>
            <a:ext cx="15772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01 · SAMPLE BUDGETS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14400" y="3395365"/>
            <a:ext cx="533704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40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Analytic-budget validation.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3923035"/>
            <a:ext cx="5337048" cy="93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Re-run soundness at the full Hoeffding budget. Upgrades present empirical agreement from a “good-enough” state to an exact model.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553200" y="2961977"/>
            <a:ext cx="1621036" cy="261937"/>
          </a:xfrm>
          <a:prstGeom prst="roundRect">
            <a:avLst>
              <a:gd name="adj" fmla="val 7273"/>
            </a:avLst>
          </a:prstGeom>
          <a:solidFill>
            <a:srgbClr val="F7EBE7"/>
          </a:solidFill>
          <a:ln w="9525">
            <a:solidFill>
              <a:srgbClr val="8A2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7975" y="3000077"/>
            <a:ext cx="148768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A2A1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02 · OPEN QUESTION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553200" y="3395365"/>
            <a:ext cx="5337048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40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Formal treatment of per-gate noise.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553200" y="4317355"/>
            <a:ext cx="5337048" cy="152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Extend Ma–Su–Deng's </a:t>
            </a:r>
            <a:pPr algn="l" indent="0" marL="0">
              <a:lnSpc>
                <a:spcPct val="142000"/>
              </a:lnSpc>
              <a:buNone/>
            </a:pPr>
            <a:r>
              <a:rPr lang="en-US" sz="16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output-side </a:t>
            </a:r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bounds (measurement noise, end-of-circuit depolarisation) to </a:t>
            </a:r>
            <a:pPr algn="l" indent="0" marL="0">
              <a:lnSpc>
                <a:spcPct val="142000"/>
              </a:lnSpc>
              <a:buNone/>
            </a:pPr>
            <a:r>
              <a:rPr lang="en-US" sz="1650" i="1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per-gate </a:t>
            </a:r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depolarisation inside the QFS circuit, and derive a closed-form (n, p) verifiability boundary that predicts the empirical cliff at n ≥ 6.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192000" y="2961977"/>
            <a:ext cx="1272555" cy="261937"/>
          </a:xfrm>
          <a:prstGeom prst="roundRect">
            <a:avLst>
              <a:gd name="adj" fmla="val 7273"/>
            </a:avLst>
          </a:prstGeom>
          <a:ln w="9525">
            <a:solidFill>
              <a:srgbClr val="A8A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96775" y="3000077"/>
            <a:ext cx="11392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3A3733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03 · HARDWARE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192000" y="3395365"/>
            <a:ext cx="533704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40" kern="0" dirty="0">
                <a:solidFill>
                  <a:srgbClr val="161512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Real quantum hardware.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192000" y="3923035"/>
            <a:ext cx="5337048" cy="93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3A3733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Any IBM backend with effective per-gate error below 10⁻³ should admit honest acceptance at n=6: a concrete success criterion from the cliff.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9034463"/>
            <a:ext cx="16459200" cy="9525"/>
          </a:xfrm>
          <a:prstGeom prst="rect">
            <a:avLst/>
          </a:prstGeom>
          <a:solidFill>
            <a:srgbClr val="A8A399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370219"/>
            <a:ext cx="2597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A2A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▶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40805" y="9436894"/>
            <a:ext cx="152805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CLOSING: SEGUE TO DEMO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6542990" y="9310688"/>
            <a:ext cx="8306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51" kern="0" dirty="0">
                <a:solidFill>
                  <a:srgbClr val="75716A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DEMO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6542990" y="9558338"/>
            <a:ext cx="83061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1615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 min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2026-05-13T16:16:31Z</dcterms:created>
  <dcterms:modified xsi:type="dcterms:W3CDTF">2026-05-13T16:16:31Z</dcterms:modified>
</cp:coreProperties>
</file>