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22"/>
    <p:restoredTop sz="94610"/>
  </p:normalViewPr>
  <p:slideViewPr>
    <p:cSldViewPr snapToGrid="0" snapToObjects="1">
      <p:cViewPr>
        <p:scale>
          <a:sx n="87" d="100"/>
          <a:sy n="87" d="100"/>
        </p:scale>
        <p:origin x="-8" y="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565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581471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CS310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24471" y="533400"/>
            <a:ext cx="2299915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THIRD-YEAR PROJECT · VIVA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2789173" y="533400"/>
            <a:ext cx="4721960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C978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DEPT. OF COMPUTER SCIENCE · UNIVERSITY OF WARWICK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2170658"/>
            <a:ext cx="15240000" cy="261937"/>
          </a:xfrm>
          <a:prstGeom prst="roundRect">
            <a:avLst>
              <a:gd name="adj" fmla="val 7273"/>
            </a:avLst>
          </a:prstGeom>
          <a:ln w="9525">
            <a:solidFill>
              <a:srgbClr val="4A47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9175" y="2208758"/>
            <a:ext cx="154876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CBC6B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VIVA · 10-MINUTE PRESENTATION · LIVE DEMO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914400" y="2775496"/>
            <a:ext cx="15697200" cy="3814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6300" kern="0" spc="-126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Implementing &amp; empirically evaluating the </a:t>
            </a:r>
            <a:r>
              <a:rPr lang="en-US" sz="6300" i="1" kern="0" spc="-126" dirty="0">
                <a:solidFill>
                  <a:srgbClr val="A6A09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Mixture-of-Superpositions </a:t>
            </a:r>
            <a:r>
              <a:rPr lang="en-US" sz="6300" kern="0" spc="-126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-based protocol </a:t>
            </a:r>
            <a:r>
              <a:rPr lang="en-US" sz="6300" kern="0" spc="-126" dirty="0">
                <a:solidFill>
                  <a:srgbClr val="A6A09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for classically verifiable quantum learning.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914400" y="6932861"/>
            <a:ext cx="11937690" cy="10929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950" dirty="0">
                <a:solidFill>
                  <a:srgbClr val="CBC6B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first concrete, end-to-end instantiation of the protocol of </a:t>
            </a:r>
            <a:r>
              <a:rPr lang="en-US" sz="1950" i="1" dirty="0">
                <a:solidFill>
                  <a:srgbClr val="CBC6B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Caro, Hinsche, Ioannou, Nietner &amp; Sweke (2024) </a:t>
            </a:r>
            <a:r>
              <a:rPr lang="en-US" sz="1950" dirty="0">
                <a:solidFill>
                  <a:srgbClr val="CBC6B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, whose Theorem 12 establishes existence only asymptotically. Also, the first empirical map of where it actually breaks.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9144000"/>
            <a:ext cx="164592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9286875"/>
            <a:ext cx="209334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51" dirty="0">
                <a:solidFill>
                  <a:srgbClr val="9C978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CANDIDATE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914400" y="9534525"/>
            <a:ext cx="209334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8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Alex Do · </a:t>
            </a:r>
            <a:r>
              <a:rPr lang="en-US" sz="1500" kern="0" spc="48" dirty="0">
                <a:solidFill>
                  <a:srgbClr val="F6F3E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5505454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41142" y="9286875"/>
            <a:ext cx="202011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51" dirty="0">
                <a:solidFill>
                  <a:srgbClr val="9C978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SUPERVISOR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3541142" y="9534525"/>
            <a:ext cx="20201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48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Dr. Matthias Caro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94661" y="9286875"/>
            <a:ext cx="278701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51" dirty="0">
                <a:solidFill>
                  <a:srgbClr val="9C978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SECOND ASSESSOR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6094661" y="9534525"/>
            <a:ext cx="27870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48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Dr. Christian Ikenmeyer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710645" y="9629775"/>
            <a:ext cx="73915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9C978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02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1846659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CONTENTS &amp; FRAMING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Contents for today's Viva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2331095"/>
            <a:ext cx="867534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007244"/>
            <a:ext cx="1718742" cy="2952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60196" y="2026295"/>
            <a:ext cx="2429545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7 slides · 10 min · + 5-min demo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4400" y="2826395"/>
            <a:ext cx="7620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0600" y="2588270"/>
            <a:ext cx="6858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#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1676400" y="2826395"/>
            <a:ext cx="623694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752600" y="2588270"/>
            <a:ext cx="627164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SECTION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7913340" y="2826395"/>
            <a:ext cx="16764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89540" y="2588270"/>
            <a:ext cx="1600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WINDOW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914400" y="3197870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90600" y="2893070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676400" y="3197870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752600" y="2893070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Intro &amp; framing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913340" y="3197870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89540" y="2893070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 – 1:00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4400" y="3569345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90600" y="3264545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676400" y="3569345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752600" y="3264545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was built: </a:t>
            </a:r>
            <a:r>
              <a:rPr lang="en-US" sz="1500" i="1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implementation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913340" y="3569345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989540" y="3264545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0:30 – 3:00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14400" y="3940820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0600" y="3636020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676400" y="3940820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752600" y="3636020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Completeness &amp; soundness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13340" y="3940820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989540" y="3636020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3:00 – 4:00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14400" y="4312295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90600" y="4007495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676400" y="4312295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752600" y="4007495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vanishing-margin finding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13340" y="4312295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989540" y="4007495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4:00 – 5:00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14400" y="4683770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90600" y="4378970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676400" y="4683770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752600" y="4378970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Robustness &amp; the gate-noise cliff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913340" y="4683770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989540" y="4378970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5:00 – 6:30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14400" y="5055245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90600" y="4750445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1676400" y="5055245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752600" y="4750445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Sensitivity: bent functions, ϑ-boundary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7913340" y="5055245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989540" y="4750445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6:30 – 7:30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914400" y="5426720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90600" y="5121920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676400" y="5426720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752600" y="5121920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Limitations &amp; contributions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7913340" y="5426720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989540" y="5121920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7:30 – 8:30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914400" y="5798195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90600" y="5493395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1676400" y="5798195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1752600" y="5493395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7913340" y="5798195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989540" y="5493395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8:30 – 9:30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914400" y="6169670"/>
            <a:ext cx="7620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990600" y="5864870"/>
            <a:ext cx="6858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1676400" y="6169670"/>
            <a:ext cx="623694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752600" y="5864870"/>
            <a:ext cx="6271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demo · sampling &amp; verifier walkthrough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7913340" y="6169670"/>
            <a:ext cx="167640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7989540" y="5864870"/>
            <a:ext cx="1600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9:30 – 15:00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10275540" y="2331095"/>
            <a:ext cx="709806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0275540" y="2007245"/>
            <a:ext cx="17187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WHERE THIS SITS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15452303" y="2026295"/>
            <a:ext cx="192129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existence → instantiation</a:t>
            </a: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10275540" y="2531120"/>
            <a:ext cx="7311002" cy="15460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Caro et al. (2024) prove that an honest BQP prover and a BPP verifier exist for the Fourier-sparse learning problem; an asymptotic statement. They provide a protocol for doing so, but not the implementation.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0275540" y="4191447"/>
            <a:ext cx="7098060" cy="1578174"/>
          </a:xfrm>
          <a:prstGeom prst="rect">
            <a:avLst/>
          </a:prstGeom>
          <a:solidFill>
            <a:srgbClr val="F3EB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0275540" y="4191447"/>
            <a:ext cx="45719" cy="1578174"/>
          </a:xfrm>
          <a:prstGeom prst="rect">
            <a:avLst/>
          </a:prstGeom>
          <a:solidFill>
            <a:srgbClr val="8A2A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10494615" y="4343846"/>
            <a:ext cx="6901427" cy="1211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This project supplies the missing artefact. 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Two Python packages, </a:t>
            </a:r>
            <a:r>
              <a:rPr lang="en-US" sz="165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mos/ 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(state-level emulator) and </a:t>
            </a:r>
            <a:r>
              <a:rPr lang="en-US" sz="165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ql/ 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(Thm. 12 interactive pair), with two equivalent backends, ~30k trials across seven experiments, and protobuf-aggregated results.</a:t>
            </a:r>
            <a:endParaRPr lang="en-US" sz="1650" dirty="0"/>
          </a:p>
        </p:txBody>
      </p:sp>
      <p:sp>
        <p:nvSpPr>
          <p:cNvPr id="76" name="Shape 74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914400" y="9629775"/>
            <a:ext cx="527787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Implementing &amp; Empirically Evaluating the MoS Protocol · Caro et al. (2024)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3093601" y="9629775"/>
            <a:ext cx="44083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Headline: this is the implementation Caro et al. did not provide.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03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1417290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WHAT WAS BUILT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769575" y="1662113"/>
            <a:ext cx="68021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12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ENGINEERING SCALE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69575" y="2081212"/>
            <a:ext cx="127828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50" kern="0" spc="-6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~30k</a:t>
            </a:r>
            <a:endParaRPr lang="en-US" sz="4050" dirty="0"/>
          </a:p>
        </p:txBody>
      </p:sp>
      <p:sp>
        <p:nvSpPr>
          <p:cNvPr id="8" name="Text 5"/>
          <p:cNvSpPr/>
          <p:nvPr/>
        </p:nvSpPr>
        <p:spPr>
          <a:xfrm>
            <a:off x="10769575" y="2614613"/>
            <a:ext cx="127828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TRIALS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12238360" y="2081212"/>
            <a:ext cx="103078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50" kern="0" spc="-6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7</a:t>
            </a:r>
            <a:endParaRPr lang="en-US" sz="4050" dirty="0"/>
          </a:p>
        </p:txBody>
      </p:sp>
      <p:sp>
        <p:nvSpPr>
          <p:cNvPr id="10" name="Text 7"/>
          <p:cNvSpPr/>
          <p:nvPr/>
        </p:nvSpPr>
        <p:spPr>
          <a:xfrm>
            <a:off x="12238360" y="2614613"/>
            <a:ext cx="103078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EXPERIMENTS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13459644" y="2081212"/>
            <a:ext cx="121034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50" kern="0" spc="-6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4</a:t>
            </a:r>
            <a:endParaRPr lang="en-US" sz="4050" dirty="0"/>
          </a:p>
        </p:txBody>
      </p:sp>
      <p:sp>
        <p:nvSpPr>
          <p:cNvPr id="12" name="Text 9"/>
          <p:cNvSpPr/>
          <p:nvPr/>
        </p:nvSpPr>
        <p:spPr>
          <a:xfrm>
            <a:off x="13459644" y="2614613"/>
            <a:ext cx="121034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EMPIRICAL AXES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10769575" y="2971800"/>
            <a:ext cx="258365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50" kern="0" spc="-6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DCS · tiger</a:t>
            </a:r>
            <a:endParaRPr lang="en-US" sz="4050" dirty="0"/>
          </a:p>
        </p:txBody>
      </p:sp>
      <p:sp>
        <p:nvSpPr>
          <p:cNvPr id="14" name="Text 11"/>
          <p:cNvSpPr/>
          <p:nvPr/>
        </p:nvSpPr>
        <p:spPr>
          <a:xfrm>
            <a:off x="10769575" y="3505200"/>
            <a:ext cx="258365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BATCH COMPUTE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10769575" y="3995738"/>
            <a:ext cx="6604025" cy="1220688"/>
          </a:xfrm>
          <a:prstGeom prst="rect">
            <a:avLst/>
          </a:prstGeom>
          <a:solidFill>
            <a:srgbClr val="E9E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0769575" y="3995738"/>
            <a:ext cx="28575" cy="1220688"/>
          </a:xfrm>
          <a:prstGeom prst="rect">
            <a:avLst/>
          </a:prstGeom>
          <a:solidFill>
            <a:srgbClr val="2D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988650" y="4148138"/>
            <a:ext cx="6392571" cy="953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Lemma 1. </a:t>
            </a:r>
            <a:r>
              <a:rPr lang="en-US" sz="165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Statevector and circuit preparations of 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|ψ</a:t>
            </a:r>
            <a:r>
              <a:rPr lang="en-US" sz="1375" i="1" baseline="-4000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⟩ </a:t>
            </a:r>
            <a:r>
              <a:rPr lang="en-US" sz="165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are identical under no gate noise; same |x, 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 </a:t>
            </a:r>
            <a:r>
              <a:rPr lang="en-US" sz="165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(x)⟩ on every basis state.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0769575" y="5445026"/>
            <a:ext cx="68021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12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AGGREGATION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769575" y="5864126"/>
            <a:ext cx="5191803" cy="32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575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Protobuf-aggregated results across distributed trials.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9629775"/>
            <a:ext cx="424483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§4 Implementation · Thm. 12 (Caro et al.) · Lemma 1 (report)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5855479" y="9629775"/>
            <a:ext cx="159432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Engineering credibility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56C8176-83DF-DD3A-1107-FF33EC038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79" y="1662113"/>
            <a:ext cx="9649999" cy="55190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04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2464222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COMPLETENESS &amp; SOUNDNESS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Honest (V, P) accepts at 100%. Dishonest (V, P) rejects where expected.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3000077"/>
            <a:ext cx="79248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676227"/>
            <a:ext cx="351953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COMPLETENESS · SCALING BASELINE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40076" y="2695277"/>
            <a:ext cx="30991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 ∈ {4,…,16} · 100 trials each · 1300 total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4400" y="3495377"/>
            <a:ext cx="3356893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0600" y="3257252"/>
            <a:ext cx="3305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METRIC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4271293" y="3495377"/>
            <a:ext cx="2530897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71293" y="3257252"/>
            <a:ext cx="245469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OBSERVED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6802189" y="3495377"/>
            <a:ext cx="2037011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02189" y="3257252"/>
            <a:ext cx="19608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PREDICTED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914400" y="3866852"/>
            <a:ext cx="33568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90600" y="3562052"/>
            <a:ext cx="3305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ℙ[accept]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271293" y="3866852"/>
            <a:ext cx="2530897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71293" y="3562052"/>
            <a:ext cx="24546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02189" y="3866852"/>
            <a:ext cx="203701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02189" y="3562052"/>
            <a:ext cx="19608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1−δ = 0.9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4400" y="4238327"/>
            <a:ext cx="33568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90600" y="3933527"/>
            <a:ext cx="3305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ℙ[correct | accept]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1293" y="4238327"/>
            <a:ext cx="2530897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271293" y="3933527"/>
            <a:ext cx="24546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02189" y="4238327"/>
            <a:ext cx="203701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02189" y="3933527"/>
            <a:ext cx="19608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–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14400" y="4609802"/>
            <a:ext cx="33568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0600" y="4305002"/>
            <a:ext cx="3305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post-selection rate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271293" y="4609802"/>
            <a:ext cx="2530897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271293" y="4305002"/>
            <a:ext cx="24546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[0.496, 0.502]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802189" y="4609802"/>
            <a:ext cx="203701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02189" y="4305002"/>
            <a:ext cx="19608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½ (Thm. 2)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14400" y="4981277"/>
            <a:ext cx="33568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90600" y="4676477"/>
            <a:ext cx="3305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wall-clock @ n=4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4271293" y="4981277"/>
            <a:ext cx="2530897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71293" y="4676477"/>
            <a:ext cx="24546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0.36 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802189" y="4981277"/>
            <a:ext cx="203701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802189" y="4676477"/>
            <a:ext cx="19608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–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14400" y="5352752"/>
            <a:ext cx="33568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90600" y="5047952"/>
            <a:ext cx="3305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wall-clock @ n=16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4271293" y="5352752"/>
            <a:ext cx="2530897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271293" y="5047952"/>
            <a:ext cx="24546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1203 s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802189" y="5352752"/>
            <a:ext cx="203701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802189" y="5047952"/>
            <a:ext cx="19608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2ⁿ⁺¹ growth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14400" y="5576590"/>
            <a:ext cx="7924800" cy="891480"/>
          </a:xfrm>
          <a:prstGeom prst="rect">
            <a:avLst/>
          </a:prstGeom>
          <a:solidFill>
            <a:srgbClr val="E9E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14400" y="5576590"/>
            <a:ext cx="28575" cy="891480"/>
          </a:xfrm>
          <a:prstGeom prst="rect">
            <a:avLst/>
          </a:prstGeom>
          <a:solidFill>
            <a:srgbClr val="2D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133475" y="5728990"/>
            <a:ext cx="7752969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Wall-clock growth is a 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simulator </a:t>
            </a:r>
            <a:r>
              <a:rPr lang="en-US" sz="165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artefact: the 2ⁿ⁺¹-dim statevector dominates, not any protocol quantity.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914400" y="6601420"/>
            <a:ext cx="7924800" cy="2324100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95375" y="6744295"/>
            <a:ext cx="778973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FIG. 1 </a:t>
            </a: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· WALL-CLOCK VS N · 13 POINTS, N=4…16 · FIXED 6000 COPIES/TRIAL</a:t>
            </a:r>
            <a:endParaRPr lang="en-US" sz="1125" dirty="0"/>
          </a:p>
        </p:txBody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6949083"/>
            <a:ext cx="7562850" cy="1890713"/>
          </a:xfrm>
          <a:prstGeom prst="rect">
            <a:avLst/>
          </a:prstGeom>
        </p:spPr>
      </p:pic>
      <p:sp>
        <p:nvSpPr>
          <p:cNvPr id="51" name="Shape 48"/>
          <p:cNvSpPr/>
          <p:nvPr/>
        </p:nvSpPr>
        <p:spPr>
          <a:xfrm>
            <a:off x="9448800" y="3000077"/>
            <a:ext cx="79248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9448800" y="2676227"/>
            <a:ext cx="393081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SOUNDNESS · SINGLE-PARITY (4 CHEATS)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13608955" y="2695277"/>
            <a:ext cx="37646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 ∈ {4,…,20} · 100 trials × 4 strategies · 6800 total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9448800" y="3495377"/>
            <a:ext cx="369823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9525000" y="3257252"/>
            <a:ext cx="365677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CHEATING STRATEGY</a:t>
            </a:r>
            <a:endParaRPr lang="en-US" sz="1125" dirty="0"/>
          </a:p>
        </p:txBody>
      </p:sp>
      <p:sp>
        <p:nvSpPr>
          <p:cNvPr id="56" name="Shape 53"/>
          <p:cNvSpPr/>
          <p:nvPr/>
        </p:nvSpPr>
        <p:spPr>
          <a:xfrm>
            <a:off x="13147030" y="3495377"/>
            <a:ext cx="845269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13147030" y="3257252"/>
            <a:ext cx="76906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N=4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13992299" y="3495377"/>
            <a:ext cx="845269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3992299" y="3257252"/>
            <a:ext cx="76906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N=8</a:t>
            </a:r>
            <a:endParaRPr lang="en-US" sz="1125" dirty="0"/>
          </a:p>
        </p:txBody>
      </p:sp>
      <p:sp>
        <p:nvSpPr>
          <p:cNvPr id="60" name="Shape 57"/>
          <p:cNvSpPr/>
          <p:nvPr/>
        </p:nvSpPr>
        <p:spPr>
          <a:xfrm>
            <a:off x="14837569" y="3495377"/>
            <a:ext cx="845269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14837569" y="3257252"/>
            <a:ext cx="76906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N=12</a:t>
            </a:r>
            <a:endParaRPr lang="en-US" sz="1125" dirty="0"/>
          </a:p>
        </p:txBody>
      </p:sp>
      <p:sp>
        <p:nvSpPr>
          <p:cNvPr id="62" name="Shape 59"/>
          <p:cNvSpPr/>
          <p:nvPr/>
        </p:nvSpPr>
        <p:spPr>
          <a:xfrm>
            <a:off x="15682838" y="3495377"/>
            <a:ext cx="845269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15682838" y="3257252"/>
            <a:ext cx="76906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N=16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16528107" y="3495377"/>
            <a:ext cx="845493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16528107" y="3257252"/>
            <a:ext cx="7692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N=20</a:t>
            </a:r>
            <a:endParaRPr lang="en-US" sz="1125" dirty="0"/>
          </a:p>
        </p:txBody>
      </p:sp>
      <p:sp>
        <p:nvSpPr>
          <p:cNvPr id="66" name="Shape 63"/>
          <p:cNvSpPr/>
          <p:nvPr/>
        </p:nvSpPr>
        <p:spPr>
          <a:xfrm>
            <a:off x="9448800" y="3866852"/>
            <a:ext cx="369823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4"/>
          <p:cNvSpPr/>
          <p:nvPr/>
        </p:nvSpPr>
        <p:spPr>
          <a:xfrm>
            <a:off x="9525000" y="3562052"/>
            <a:ext cx="365677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random list (5 idx)</a:t>
            </a:r>
            <a:endParaRPr lang="en-US" sz="1500" dirty="0"/>
          </a:p>
        </p:txBody>
      </p:sp>
      <p:sp>
        <p:nvSpPr>
          <p:cNvPr id="68" name="Shape 65"/>
          <p:cNvSpPr/>
          <p:nvPr/>
        </p:nvSpPr>
        <p:spPr>
          <a:xfrm>
            <a:off x="13147030" y="386685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13147030" y="356205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71%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13992299" y="386685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13992299" y="356205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97%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14837569" y="386685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/>
          <p:nvPr/>
        </p:nvSpPr>
        <p:spPr>
          <a:xfrm>
            <a:off x="14837569" y="356205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74" name="Shape 71"/>
          <p:cNvSpPr/>
          <p:nvPr/>
        </p:nvSpPr>
        <p:spPr>
          <a:xfrm>
            <a:off x="15682838" y="386685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2"/>
          <p:cNvSpPr/>
          <p:nvPr/>
        </p:nvSpPr>
        <p:spPr>
          <a:xfrm>
            <a:off x="15682838" y="356205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76" name="Shape 73"/>
          <p:cNvSpPr/>
          <p:nvPr/>
        </p:nvSpPr>
        <p:spPr>
          <a:xfrm>
            <a:off x="16528107" y="3866852"/>
            <a:ext cx="8454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4"/>
          <p:cNvSpPr/>
          <p:nvPr/>
        </p:nvSpPr>
        <p:spPr>
          <a:xfrm>
            <a:off x="16528107" y="3562052"/>
            <a:ext cx="76929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9448800" y="4238327"/>
            <a:ext cx="369823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6"/>
          <p:cNvSpPr/>
          <p:nvPr/>
        </p:nvSpPr>
        <p:spPr>
          <a:xfrm>
            <a:off x="9525000" y="3933527"/>
            <a:ext cx="365677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wrong parity</a:t>
            </a:r>
            <a:endParaRPr lang="en-US" sz="1500" dirty="0"/>
          </a:p>
        </p:txBody>
      </p:sp>
      <p:sp>
        <p:nvSpPr>
          <p:cNvPr id="80" name="Shape 77"/>
          <p:cNvSpPr/>
          <p:nvPr/>
        </p:nvSpPr>
        <p:spPr>
          <a:xfrm>
            <a:off x="13147030" y="423832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8"/>
          <p:cNvSpPr/>
          <p:nvPr/>
        </p:nvSpPr>
        <p:spPr>
          <a:xfrm>
            <a:off x="13147030" y="393352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82" name="Shape 79"/>
          <p:cNvSpPr/>
          <p:nvPr/>
        </p:nvSpPr>
        <p:spPr>
          <a:xfrm>
            <a:off x="13992299" y="423832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80"/>
          <p:cNvSpPr/>
          <p:nvPr/>
        </p:nvSpPr>
        <p:spPr>
          <a:xfrm>
            <a:off x="13992299" y="393352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14837569" y="423832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2"/>
          <p:cNvSpPr/>
          <p:nvPr/>
        </p:nvSpPr>
        <p:spPr>
          <a:xfrm>
            <a:off x="14837569" y="393352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86" name="Shape 83"/>
          <p:cNvSpPr/>
          <p:nvPr/>
        </p:nvSpPr>
        <p:spPr>
          <a:xfrm>
            <a:off x="15682838" y="423832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/>
          <p:nvPr/>
        </p:nvSpPr>
        <p:spPr>
          <a:xfrm>
            <a:off x="15682838" y="393352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88" name="Shape 85"/>
          <p:cNvSpPr/>
          <p:nvPr/>
        </p:nvSpPr>
        <p:spPr>
          <a:xfrm>
            <a:off x="16528107" y="4238327"/>
            <a:ext cx="8454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6"/>
          <p:cNvSpPr/>
          <p:nvPr/>
        </p:nvSpPr>
        <p:spPr>
          <a:xfrm>
            <a:off x="16528107" y="3933527"/>
            <a:ext cx="76929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90" name="Shape 87"/>
          <p:cNvSpPr/>
          <p:nvPr/>
        </p:nvSpPr>
        <p:spPr>
          <a:xfrm>
            <a:off x="9448800" y="4609802"/>
            <a:ext cx="369823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8"/>
          <p:cNvSpPr/>
          <p:nvPr/>
        </p:nvSpPr>
        <p:spPr>
          <a:xfrm>
            <a:off x="9525000" y="4305002"/>
            <a:ext cx="365677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empty list</a:t>
            </a:r>
            <a:endParaRPr lang="en-US" sz="1500" dirty="0"/>
          </a:p>
        </p:txBody>
      </p:sp>
      <p:sp>
        <p:nvSpPr>
          <p:cNvPr id="92" name="Shape 89"/>
          <p:cNvSpPr/>
          <p:nvPr/>
        </p:nvSpPr>
        <p:spPr>
          <a:xfrm>
            <a:off x="13147030" y="460980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90"/>
          <p:cNvSpPr/>
          <p:nvPr/>
        </p:nvSpPr>
        <p:spPr>
          <a:xfrm>
            <a:off x="13147030" y="430500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3992299" y="460980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Text 92"/>
          <p:cNvSpPr/>
          <p:nvPr/>
        </p:nvSpPr>
        <p:spPr>
          <a:xfrm>
            <a:off x="13992299" y="430500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14837569" y="460980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Text 94"/>
          <p:cNvSpPr/>
          <p:nvPr/>
        </p:nvSpPr>
        <p:spPr>
          <a:xfrm>
            <a:off x="14837569" y="430500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98" name="Shape 95"/>
          <p:cNvSpPr/>
          <p:nvPr/>
        </p:nvSpPr>
        <p:spPr>
          <a:xfrm>
            <a:off x="15682838" y="4609802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Text 96"/>
          <p:cNvSpPr/>
          <p:nvPr/>
        </p:nvSpPr>
        <p:spPr>
          <a:xfrm>
            <a:off x="15682838" y="4305002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00" name="Shape 97"/>
          <p:cNvSpPr/>
          <p:nvPr/>
        </p:nvSpPr>
        <p:spPr>
          <a:xfrm>
            <a:off x="16528107" y="4609802"/>
            <a:ext cx="8454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8"/>
          <p:cNvSpPr/>
          <p:nvPr/>
        </p:nvSpPr>
        <p:spPr>
          <a:xfrm>
            <a:off x="16528107" y="4305002"/>
            <a:ext cx="76929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02" name="Shape 99"/>
          <p:cNvSpPr/>
          <p:nvPr/>
        </p:nvSpPr>
        <p:spPr>
          <a:xfrm>
            <a:off x="9448800" y="4981277"/>
            <a:ext cx="3698230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Text 100"/>
          <p:cNvSpPr/>
          <p:nvPr/>
        </p:nvSpPr>
        <p:spPr>
          <a:xfrm>
            <a:off x="9525000" y="4676477"/>
            <a:ext cx="365677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inflated list (10 idx)</a:t>
            </a:r>
            <a:endParaRPr lang="en-US" sz="1500" dirty="0"/>
          </a:p>
        </p:txBody>
      </p:sp>
      <p:sp>
        <p:nvSpPr>
          <p:cNvPr id="104" name="Shape 101"/>
          <p:cNvSpPr/>
          <p:nvPr/>
        </p:nvSpPr>
        <p:spPr>
          <a:xfrm>
            <a:off x="13147030" y="498127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Text 102"/>
          <p:cNvSpPr/>
          <p:nvPr/>
        </p:nvSpPr>
        <p:spPr>
          <a:xfrm>
            <a:off x="13147030" y="467647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06" name="Shape 103"/>
          <p:cNvSpPr/>
          <p:nvPr/>
        </p:nvSpPr>
        <p:spPr>
          <a:xfrm>
            <a:off x="13992299" y="498127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Text 104"/>
          <p:cNvSpPr/>
          <p:nvPr/>
        </p:nvSpPr>
        <p:spPr>
          <a:xfrm>
            <a:off x="13992299" y="467647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08" name="Shape 105"/>
          <p:cNvSpPr/>
          <p:nvPr/>
        </p:nvSpPr>
        <p:spPr>
          <a:xfrm>
            <a:off x="14837569" y="498127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" name="Text 106"/>
          <p:cNvSpPr/>
          <p:nvPr/>
        </p:nvSpPr>
        <p:spPr>
          <a:xfrm>
            <a:off x="14837569" y="467647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15682838" y="4981277"/>
            <a:ext cx="845269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Text 108"/>
          <p:cNvSpPr/>
          <p:nvPr/>
        </p:nvSpPr>
        <p:spPr>
          <a:xfrm>
            <a:off x="15682838" y="4676477"/>
            <a:ext cx="7690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12" name="Shape 109"/>
          <p:cNvSpPr/>
          <p:nvPr/>
        </p:nvSpPr>
        <p:spPr>
          <a:xfrm>
            <a:off x="16528107" y="4981277"/>
            <a:ext cx="84549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" name="Text 110"/>
          <p:cNvSpPr/>
          <p:nvPr/>
        </p:nvSpPr>
        <p:spPr>
          <a:xfrm>
            <a:off x="16528107" y="4676477"/>
            <a:ext cx="76929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9448800" y="5205115"/>
            <a:ext cx="7924800" cy="891480"/>
          </a:xfrm>
          <a:prstGeom prst="rect">
            <a:avLst/>
          </a:prstGeom>
          <a:solidFill>
            <a:srgbClr val="E9E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Shape 112"/>
          <p:cNvSpPr/>
          <p:nvPr/>
        </p:nvSpPr>
        <p:spPr>
          <a:xfrm>
            <a:off x="9448800" y="5205115"/>
            <a:ext cx="28575" cy="891480"/>
          </a:xfrm>
          <a:prstGeom prst="rect">
            <a:avLst/>
          </a:prstGeom>
          <a:solidFill>
            <a:srgbClr val="2D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Text 113"/>
          <p:cNvSpPr/>
          <p:nvPr/>
        </p:nvSpPr>
        <p:spPr>
          <a:xfrm>
            <a:off x="9667875" y="5357515"/>
            <a:ext cx="7752969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Accidental accepts, not soundness violations. 5-element random lists hit s* with probability 5/2ⁿ. At n=4: predicted 31, observed 29 out of 100 trials.</a:t>
            </a:r>
            <a:endParaRPr lang="en-US" sz="1650" dirty="0"/>
          </a:p>
        </p:txBody>
      </p:sp>
      <p:sp>
        <p:nvSpPr>
          <p:cNvPr id="117" name="Shape 114"/>
          <p:cNvSpPr/>
          <p:nvPr/>
        </p:nvSpPr>
        <p:spPr>
          <a:xfrm>
            <a:off x="9448800" y="6306145"/>
            <a:ext cx="7924800" cy="891480"/>
          </a:xfrm>
          <a:prstGeom prst="rect">
            <a:avLst/>
          </a:prstGeom>
          <a:solidFill>
            <a:srgbClr val="F3EB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" name="Shape 115"/>
          <p:cNvSpPr/>
          <p:nvPr/>
        </p:nvSpPr>
        <p:spPr>
          <a:xfrm>
            <a:off x="9448800" y="6306145"/>
            <a:ext cx="28575" cy="891480"/>
          </a:xfrm>
          <a:prstGeom prst="rect">
            <a:avLst/>
          </a:prstGeom>
          <a:solidFill>
            <a:srgbClr val="8A2A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" name="Text 116"/>
          <p:cNvSpPr/>
          <p:nvPr/>
        </p:nvSpPr>
        <p:spPr>
          <a:xfrm>
            <a:off x="9667875" y="6458545"/>
            <a:ext cx="7752969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Limitation: 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list-size bound 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64b²/ϑ² 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≈ 711 never triggered: largest adversarial list submitted had </a:t>
            </a:r>
            <a:r>
              <a:rPr lang="en-US" sz="165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|L| = 10</a:t>
            </a: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. Future work.</a:t>
            </a:r>
            <a:endParaRPr lang="en-US" sz="1650" dirty="0"/>
          </a:p>
        </p:txBody>
      </p:sp>
      <p:sp>
        <p:nvSpPr>
          <p:cNvPr id="120" name="Shape 117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Text 118"/>
          <p:cNvSpPr/>
          <p:nvPr/>
        </p:nvSpPr>
        <p:spPr>
          <a:xfrm>
            <a:off x="914400" y="9629775"/>
            <a:ext cx="272194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§5.1 Completeness · §5.2.1 Soundness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05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185863"/>
            <a:ext cx="14716125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Multi-element soundness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2445395"/>
            <a:ext cx="832098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121545"/>
            <a:ext cx="411131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MULTI-ELEMENT CHEATS · REJECTION RATE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92444" y="2140595"/>
            <a:ext cx="3342936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k-sparse targets · per-cell minimum across 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2588270"/>
            <a:ext cx="8320980" cy="4678933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2826395"/>
            <a:ext cx="7844730" cy="427888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844980" y="2445395"/>
            <a:ext cx="7528545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844980" y="2121545"/>
            <a:ext cx="232298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MECHANISM &amp; FRAMING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5244688" y="2140595"/>
            <a:ext cx="2128838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why the 91% floor sits there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844980" y="2626370"/>
            <a:ext cx="7754401" cy="14445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9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adversary submits the </a:t>
            </a:r>
            <a:r>
              <a:rPr lang="en-US" sz="19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true </a:t>
            </a:r>
            <a:r>
              <a:rPr lang="en-US" sz="19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heaviest Fourier coefficient alongside five fakes. The verifier’s weight check </a:t>
            </a:r>
            <a:r>
              <a:rPr lang="en-US" sz="19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Σ ϕ̃(s)² &lt; a² − ε²/8 </a:t>
            </a:r>
            <a:r>
              <a:rPr lang="en-US" sz="19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is dominated by the real signal; only marginally tipped under threshold.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9844980" y="4413796"/>
            <a:ext cx="7528545" cy="891480"/>
          </a:xfrm>
          <a:prstGeom prst="rect">
            <a:avLst/>
          </a:prstGeom>
          <a:solidFill>
            <a:srgbClr val="F3EB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9844980" y="4413796"/>
            <a:ext cx="28575" cy="891480"/>
          </a:xfrm>
          <a:prstGeom prst="rect">
            <a:avLst/>
          </a:prstGeom>
          <a:solidFill>
            <a:srgbClr val="8A2A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064055" y="4566196"/>
            <a:ext cx="7344826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Definition 7 (Caro et al.) is universally quantified; these strategies are a spot-check, not a refutation.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9844980" y="5905351"/>
            <a:ext cx="3152031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921180" y="5667226"/>
            <a:ext cx="30941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STRATEGY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12997011" y="5905351"/>
            <a:ext cx="1528614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997011" y="5667226"/>
            <a:ext cx="145241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K=2 MEAN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14525625" y="5905351"/>
            <a:ext cx="1319138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4525625" y="5667226"/>
            <a:ext cx="124293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K=2 MIN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15844763" y="5905351"/>
            <a:ext cx="1528763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5844763" y="5667226"/>
            <a:ext cx="145256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K=4 MEAN</a:t>
            </a:r>
            <a:endParaRPr lang="en-US" sz="1125" dirty="0"/>
          </a:p>
        </p:txBody>
      </p:sp>
      <p:sp>
        <p:nvSpPr>
          <p:cNvPr id="25" name="Shape 22"/>
          <p:cNvSpPr/>
          <p:nvPr/>
        </p:nvSpPr>
        <p:spPr>
          <a:xfrm>
            <a:off x="9844980" y="6276826"/>
            <a:ext cx="315203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9921180" y="5972026"/>
            <a:ext cx="309419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partial real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2997011" y="6276826"/>
            <a:ext cx="1528614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12997011" y="5972026"/>
            <a:ext cx="14524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14525625" y="6276826"/>
            <a:ext cx="1319138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4525625" y="5972026"/>
            <a:ext cx="12429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5844763" y="6276826"/>
            <a:ext cx="152876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5844763" y="5972026"/>
            <a:ext cx="14525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844980" y="6648301"/>
            <a:ext cx="315203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9921180" y="6343501"/>
            <a:ext cx="309419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diluted list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12997011" y="6648301"/>
            <a:ext cx="1528614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2997011" y="6343501"/>
            <a:ext cx="14524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98.5%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4525625" y="6648301"/>
            <a:ext cx="1319138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4525625" y="6343501"/>
            <a:ext cx="12429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96%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15844763" y="6648301"/>
            <a:ext cx="152876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15844763" y="6343501"/>
            <a:ext cx="14525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9844980" y="7019776"/>
            <a:ext cx="315203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9921180" y="6714976"/>
            <a:ext cx="309419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entirely wrong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12997011" y="7019776"/>
            <a:ext cx="1528614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12997011" y="6714976"/>
            <a:ext cx="14524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14525625" y="7019776"/>
            <a:ext cx="1319138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14525625" y="6714976"/>
            <a:ext cx="12429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15844763" y="7019776"/>
            <a:ext cx="152876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15844763" y="6714976"/>
            <a:ext cx="14525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9844980" y="7391251"/>
            <a:ext cx="3152031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9921180" y="7086451"/>
            <a:ext cx="309419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subset + noise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12997011" y="7391251"/>
            <a:ext cx="1528614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12997011" y="7086451"/>
            <a:ext cx="14524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95.1%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14525625" y="7391251"/>
            <a:ext cx="1319138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14525625" y="7086451"/>
            <a:ext cx="124293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91%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5844763" y="7391251"/>
            <a:ext cx="1528763" cy="9525"/>
          </a:xfrm>
          <a:prstGeom prst="rect">
            <a:avLst/>
          </a:prstGeom>
          <a:solidFill>
            <a:srgbClr val="C9C4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15844763" y="7086451"/>
            <a:ext cx="14525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A2A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99.8%</a:t>
            </a:r>
            <a:endParaRPr lang="en-US" sz="1500" dirty="0"/>
          </a:p>
        </p:txBody>
      </p:sp>
      <p:sp>
        <p:nvSpPr>
          <p:cNvPr id="57" name="Text 54"/>
          <p:cNvSpPr/>
          <p:nvPr/>
        </p:nvSpPr>
        <p:spPr>
          <a:xfrm>
            <a:off x="9844980" y="7672239"/>
            <a:ext cx="7754401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i="1" kern="0" spc="27" dirty="0">
                <a:solidFill>
                  <a:srgbClr val="75716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Attribution precision: separating structural from adversarial rejection.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914400" y="9629775"/>
            <a:ext cx="339835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§5.2.2 Multi-element dishonest provers · Table 4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14535596" y="9629775"/>
            <a:ext cx="292314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Failure mode #1: vanishing-margin ceiling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06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4388394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ROBUSTNESS: (1−2Η)² FIT AND THE GATE-NOISE CLIFF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cleanest theory match; the only experiment outside Caro et al.’s promise universe.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3017044"/>
            <a:ext cx="79248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676227"/>
            <a:ext cx="3139133" cy="302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LABEL-FLIP SWEEP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12905" y="2695277"/>
            <a:ext cx="2026295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~17k trials · 13 noise rates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4400" y="3159919"/>
            <a:ext cx="7924800" cy="3934644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7304112"/>
            <a:ext cx="7924800" cy="838200"/>
          </a:xfrm>
          <a:prstGeom prst="rect">
            <a:avLst/>
          </a:prstGeom>
          <a:solidFill>
            <a:srgbClr val="E9E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7304112"/>
            <a:ext cx="28575" cy="838200"/>
          </a:xfrm>
          <a:prstGeom prst="rect">
            <a:avLst/>
          </a:prstGeom>
          <a:solidFill>
            <a:srgbClr val="2D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475" y="7456512"/>
            <a:ext cx="775296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&lt; 1.8% relative error </a:t>
            </a:r>
            <a:r>
              <a:rPr lang="en-US" sz="1500" dirty="0">
                <a:solidFill>
                  <a:srgbClr val="161512"/>
                </a:solidFill>
                <a:highlight>
                  <a:srgbClr val="E9EDF3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across all n ∈ {4,…,16}, all η ≤ 0.42. Sharp empty-list transition at η ≈ 0.447: exact root where margin (1−2η)² − ε²/8 goes negative. </a:t>
            </a:r>
            <a:r>
              <a:rPr lang="en-US" sz="15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Lean on this.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448800" y="3017044"/>
            <a:ext cx="79248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448800" y="2676227"/>
            <a:ext cx="2557388" cy="302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GATE-NOISE CLIFF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250939" y="2695277"/>
            <a:ext cx="212266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circuit backend · n ∈ {4,…,8}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448800" y="3159919"/>
            <a:ext cx="7924800" cy="3934644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448800" y="7304112"/>
            <a:ext cx="7924800" cy="1371600"/>
          </a:xfrm>
          <a:prstGeom prst="rect">
            <a:avLst/>
          </a:prstGeom>
          <a:solidFill>
            <a:srgbClr val="F3EB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448800" y="7304112"/>
            <a:ext cx="28575" cy="1371600"/>
          </a:xfrm>
          <a:prstGeom prst="rect">
            <a:avLst/>
          </a:prstGeom>
          <a:solidFill>
            <a:srgbClr val="8A2A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67875" y="7456512"/>
            <a:ext cx="7752969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Uniform noise floor </a:t>
            </a:r>
            <a:r>
              <a:rPr lang="en-US" sz="15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1/2ⁿ  </a:t>
            </a:r>
            <a:r>
              <a:rPr lang="en-US" sz="150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exceeds the extraction threshold </a:t>
            </a:r>
            <a:r>
              <a:rPr lang="en-US" sz="15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ϑ²/4 </a:t>
            </a:r>
            <a:r>
              <a:rPr lang="en-US" sz="150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for </a:t>
            </a:r>
            <a:r>
              <a:rPr lang="en-US" sz="150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n ≤ 5 </a:t>
            </a:r>
            <a:r>
              <a:rPr lang="en-US" sz="150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; crosses below at </a:t>
            </a:r>
            <a:r>
              <a:rPr lang="en-US" sz="1500" b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n = 6 </a:t>
            </a:r>
            <a:r>
              <a:rPr lang="en-US" sz="1500" dirty="0">
                <a:solidFill>
                  <a:srgbClr val="161512"/>
                </a:solidFill>
                <a:highlight>
                  <a:srgbClr val="F3EBE6"/>
                </a:highlight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. Explains why n ≤ 5 looks robust and n ≥ 6 collapses. Ma–Su–Deng cover output-side noise, not per-gate depolarising. </a:t>
            </a:r>
            <a:r>
              <a:rPr lang="en-US" sz="15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Genuine open question.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5104046" y="9629775"/>
            <a:ext cx="234575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Failure mode #2: prover-side cliff</a:t>
            </a:r>
            <a:endParaRPr lang="en-US" sz="1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51A856-E8A1-1A41-2216-F3C784355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75" y="3187674"/>
            <a:ext cx="7479196" cy="388749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1867B73-ED56-806E-058A-75BD9661A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0770" y="3171526"/>
            <a:ext cx="6880860" cy="38874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07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4205056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SENSITIVITY: BENT FUNCTIONS &amp; THE Θ-BOUNDARY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Violating protocol preconditions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2459682"/>
            <a:ext cx="7528545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135832"/>
            <a:ext cx="448979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BENT FUNCTIONS · PERFECTLY FLAT SPECTRUM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66373" y="2121545"/>
            <a:ext cx="267657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Maiorana–McFarland · |ĝ(s)| = 2</a:t>
            </a:r>
            <a:r>
              <a:rPr lang="en-US" sz="1125" kern="0" spc="27" baseline="30000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−n/2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2659707"/>
            <a:ext cx="6216030" cy="674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Corollary 5 (Caro et al.) excludes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whenever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|ĝ(s)| &lt; ε/2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. Flat bent coefficients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2</a:t>
            </a:r>
            <a:r>
              <a:rPr lang="en-US" sz="1375" baseline="3000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−n/2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at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ε = 0.3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hit that boundary at: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14400" y="3676948"/>
            <a:ext cx="7528545" cy="816546"/>
          </a:xfrm>
          <a:prstGeom prst="rect">
            <a:avLst/>
          </a:prstGeom>
          <a:solidFill>
            <a:srgbClr val="E9E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676948"/>
            <a:ext cx="28575" cy="816546"/>
          </a:xfrm>
          <a:prstGeom prst="rect">
            <a:avLst/>
          </a:prstGeom>
          <a:solidFill>
            <a:srgbClr val="2D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1497" y="3848398"/>
            <a:ext cx="7382926" cy="511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n = 2 log</a:t>
            </a:r>
            <a:r>
              <a:rPr lang="en-US" sz="2000" baseline="-4000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2</a:t>
            </a:r>
            <a:r>
              <a:rPr lang="en-US" sz="2400" i="1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(2/ε) ≈ 5.47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4626843"/>
            <a:ext cx="7528545" cy="4111898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475" y="4845918"/>
            <a:ext cx="7303107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FIG. 5 </a:t>
            </a: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· RECOVERED LIST SIZE |L| VS N</a:t>
            </a:r>
            <a:endParaRPr lang="en-US" sz="1125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75" y="5088806"/>
            <a:ext cx="7090395" cy="35451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052545" y="2445395"/>
            <a:ext cx="832098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52545" y="2121545"/>
            <a:ext cx="2437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Θ-SENSITIVITY HEATMAP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4030896" y="2140595"/>
            <a:ext cx="3342630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target: dominant 0.7 + three secondaries 0.1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052545" y="2645420"/>
            <a:ext cx="6216030" cy="125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ϑ lower-bounds the magnitude of all non-zero Fourier coefficients. Sweep ϑ against n: acceptance collapses at the frontier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ϑ = 2·c</a:t>
            </a:r>
            <a:r>
              <a:rPr lang="en-US" sz="1375" baseline="-4000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sec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= 0.2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: where the small-coefficient promise fails.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9052545" y="4170685"/>
            <a:ext cx="8320980" cy="4157514"/>
          </a:xfrm>
          <a:prstGeom prst="rect">
            <a:avLst/>
          </a:prstGeom>
          <a:solidFill>
            <a:srgbClr val="FBF8F1"/>
          </a:solidFill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271620" y="4389760"/>
            <a:ext cx="811931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FIG. 6 </a:t>
            </a:r>
            <a:r>
              <a:rPr lang="en-US" sz="1125" kern="0" spc="68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· ACCEPTANCE RATE · DARKER = HIGHER</a:t>
            </a:r>
            <a:endParaRPr lang="en-US" sz="1125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620" y="4651697"/>
            <a:ext cx="7882830" cy="3533626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914400" y="9629775"/>
            <a:ext cx="301098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§5.4.1 Bent functions · §5.4.2 ϑ-sensitivity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08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2621770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LIMITATIONS &amp; CONTRIBUTIONS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Empirical mechanism study, not an asymptotic validation. Two failure modes characterised; one open question raised.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3000077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676227"/>
            <a:ext cx="12958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4307235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81100" y="3238202"/>
            <a:ext cx="78958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Sample budgets three orders below analytic Hoeffding.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For </a:t>
            </a:r>
            <a:r>
              <a:rPr lang="en-US" sz="1800" dirty="0">
                <a:solidFill>
                  <a:srgbClr val="DAD4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|L|=10, ε=0.3, δ=0.1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requirement is ≈ </a:t>
            </a:r>
            <a:r>
              <a:rPr lang="en-US" sz="1800" dirty="0">
                <a:solidFill>
                  <a:srgbClr val="DAD4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3.8×10⁷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; experiments use ~10⁴. Maps mechanisms, not asymptotic complexity.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5156448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81100" y="4412010"/>
            <a:ext cx="7895844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No real quantum hardware.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Every measurement is classical simulation. Cross-talk, decay, biased readout are unstressed.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1100" y="5261223"/>
            <a:ext cx="78958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Brute-force circuit oracle caps gate-noise study at n=8.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MCX construction is exponential; the Statevector path avoids this but cannot carry per-gate noise.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8800" y="3000077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48800" y="2676227"/>
            <a:ext cx="162483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kern="0" spc="90" dirty="0">
                <a:solidFill>
                  <a:srgbClr val="F6F3EC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CONTRIBUTIONS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448800" y="3658046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15500" y="3238202"/>
            <a:ext cx="7895844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First faithful implementation of the MoS protocol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48800" y="4831854"/>
            <a:ext cx="79248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715500" y="3762821"/>
            <a:ext cx="78958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Two failure modes characterised.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Vanishing-margin acceptance ceiling under mixed-coefficient cheats; prover-side cliff under per-gate depolarising noise.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715500" y="4936629"/>
            <a:ext cx="7895844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F6F3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One open theoretical question raised. </a:t>
            </a:r>
            <a:r>
              <a:rPr lang="en-US" sz="1800" dirty="0">
                <a:solidFill>
                  <a:srgbClr val="DAD4C7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Per-gate depolarising noise: Ma–Su–Deng treat output-side, not gate-side.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3A3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9629775"/>
            <a:ext cx="325126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EFEADF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§6 Discussion · §7.1 Summary of contributions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71538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33400"/>
            <a:ext cx="636017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54" dirty="0">
                <a:solidFill>
                  <a:srgbClr val="161512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09 / 09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79017" y="533400"/>
            <a:ext cx="1204913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FUTURE WORK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185863"/>
            <a:ext cx="14716125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900" kern="0" spc="-58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Three directions in roughly decreasing impact on what this report can support.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4400" y="2961977"/>
            <a:ext cx="1710630" cy="261937"/>
          </a:xfrm>
          <a:prstGeom prst="roundRect">
            <a:avLst>
              <a:gd name="adj" fmla="val 7273"/>
            </a:avLst>
          </a:prstGeom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9175" y="3000077"/>
            <a:ext cx="157728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01 · SAMPLE BUDGETS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914400" y="3395365"/>
            <a:ext cx="5337048" cy="4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4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Analytic-budget validation.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23035"/>
            <a:ext cx="5337048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Re-run soundness at the full Hoeffding budget. Upgrades present empirical agreement from a “good-enough” state to an exact model.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553200" y="2961977"/>
            <a:ext cx="1621036" cy="261937"/>
          </a:xfrm>
          <a:prstGeom prst="roundRect">
            <a:avLst>
              <a:gd name="adj" fmla="val 7273"/>
            </a:avLst>
          </a:prstGeom>
          <a:solidFill>
            <a:srgbClr val="F7EBE7"/>
          </a:solidFill>
          <a:ln w="9525">
            <a:solidFill>
              <a:srgbClr val="8A2A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57975" y="3000077"/>
            <a:ext cx="148768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8A2A18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02 · OPEN QUESTION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6553200" y="3395365"/>
            <a:ext cx="5337048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4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Formal treatment of per-gate noise.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53200" y="4317355"/>
            <a:ext cx="5337048" cy="15256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Extend Ma–Su–Deng's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output-side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bounds (measurement noise, end-of-circuit depolarisation) to </a:t>
            </a:r>
            <a:r>
              <a:rPr lang="en-US" sz="1650" i="1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per-gate </a:t>
            </a: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depolarisation inside the QFS circuit, and derive a closed-form (n, p) verifiability boundary that predicts the empirical cliff at n ≥ 6.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2192000" y="2961977"/>
            <a:ext cx="1272555" cy="261937"/>
          </a:xfrm>
          <a:prstGeom prst="roundRect">
            <a:avLst>
              <a:gd name="adj" fmla="val 7273"/>
            </a:avLst>
          </a:prstGeom>
          <a:ln w="9525">
            <a:solidFill>
              <a:srgbClr val="A8A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296775" y="3000077"/>
            <a:ext cx="113920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68" dirty="0">
                <a:solidFill>
                  <a:srgbClr val="3A3733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03 · HARDWARE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12192000" y="3395365"/>
            <a:ext cx="5337048" cy="4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40" dirty="0">
                <a:solidFill>
                  <a:srgbClr val="161512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Real quantum hardware.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192000" y="3923035"/>
            <a:ext cx="5337048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3A3733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Any IBM backend with effective per-gate error below 10⁻³ should admit honest acceptance at n=6: a concrete success criterion from the cliff.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14400" y="9034463"/>
            <a:ext cx="16459200" cy="9525"/>
          </a:xfrm>
          <a:prstGeom prst="rect">
            <a:avLst/>
          </a:prstGeom>
          <a:solidFill>
            <a:srgbClr val="A8A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4400" y="9370219"/>
            <a:ext cx="2597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40805" y="9436894"/>
            <a:ext cx="1528055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/>
              <a:t>DEMO</a:t>
            </a:r>
          </a:p>
        </p:txBody>
      </p:sp>
      <p:sp>
        <p:nvSpPr>
          <p:cNvPr id="21" name="Text 19"/>
          <p:cNvSpPr/>
          <p:nvPr/>
        </p:nvSpPr>
        <p:spPr>
          <a:xfrm>
            <a:off x="16542990" y="9310688"/>
            <a:ext cx="83061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51" dirty="0">
                <a:solidFill>
                  <a:srgbClr val="75716A"/>
                </a:solidFill>
                <a:latin typeface="IBM Plex Sans Condensed" pitchFamily="34" charset="0"/>
                <a:ea typeface="IBM Plex Sans Condensed" pitchFamily="34" charset="-122"/>
                <a:cs typeface="IBM Plex Sans Condensed" pitchFamily="34" charset="-120"/>
              </a:rPr>
              <a:t>DEMO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16542990" y="9558338"/>
            <a:ext cx="83061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1615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~5 min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1486</Words>
  <Application>Microsoft Macintosh PowerPoint</Application>
  <PresentationFormat>Custom</PresentationFormat>
  <Paragraphs>220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IBM Plex Mono</vt:lpstr>
      <vt:lpstr>IBM Plex Sans Condensed</vt:lpstr>
      <vt:lpstr>IBM Plex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Warwick Coding Society</cp:lastModifiedBy>
  <cp:revision>12</cp:revision>
  <dcterms:created xsi:type="dcterms:W3CDTF">2026-05-13T16:16:31Z</dcterms:created>
  <dcterms:modified xsi:type="dcterms:W3CDTF">2026-05-13T18:23:58Z</dcterms:modified>
</cp:coreProperties>
</file>